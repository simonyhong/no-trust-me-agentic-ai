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56" r:id="rId3"/>
    <p:sldId id="257" r:id="rId4"/>
    <p:sldId id="262" r:id="rId5"/>
    <p:sldId id="258" r:id="rId6"/>
    <p:sldId id="259" r:id="rId7"/>
    <p:sldId id="263" r:id="rId8"/>
    <p:sldId id="264" r:id="rId9"/>
    <p:sldId id="265" r:id="rId10"/>
    <p:sldId id="266" r:id="rId11"/>
  </p:sldIdLst>
  <p:sldSz cx="43891200" cy="2468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D465A-354D-4022-A33C-AF8F86656859}" v="66" dt="2026-10-09T19:17:00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7589" autoAdjust="0"/>
  </p:normalViewPr>
  <p:slideViewPr>
    <p:cSldViewPr snapToGrid="0">
      <p:cViewPr varScale="1">
        <p:scale>
          <a:sx n="25" d="100"/>
          <a:sy n="25" d="100"/>
        </p:scale>
        <p:origin x="130" y="11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Hong" userId="2f15200c-b3cf-4aef-8f69-ada819764841" providerId="ADAL" clId="{6AB89950-CF24-4538-93AF-1A20832D1772}"/>
    <pc:docChg chg="undo redo custSel addSld delSld modSld">
      <pc:chgData name="Simon Hong" userId="2f15200c-b3cf-4aef-8f69-ada819764841" providerId="ADAL" clId="{6AB89950-CF24-4538-93AF-1A20832D1772}" dt="2026-10-09T19:17:00.791" v="981" actId="1037"/>
      <pc:docMkLst>
        <pc:docMk/>
      </pc:docMkLst>
      <pc:sldChg chg="modSp mod">
        <pc:chgData name="Simon Hong" userId="2f15200c-b3cf-4aef-8f69-ada819764841" providerId="ADAL" clId="{6AB89950-CF24-4538-93AF-1A20832D1772}" dt="2026-10-09T18:53:48.851" v="783" actId="6549"/>
        <pc:sldMkLst>
          <pc:docMk/>
          <pc:sldMk cId="1674887463" sldId="256"/>
        </pc:sldMkLst>
        <pc:spChg chg="mod">
          <ac:chgData name="Simon Hong" userId="2f15200c-b3cf-4aef-8f69-ada819764841" providerId="ADAL" clId="{6AB89950-CF24-4538-93AF-1A20832D1772}" dt="2026-10-09T18:53:48.851" v="783" actId="6549"/>
          <ac:spMkLst>
            <pc:docMk/>
            <pc:sldMk cId="1674887463" sldId="256"/>
            <ac:spMk id="43" creationId="{BD46BBD1-38CB-19B8-67F2-EECC9C57D83F}"/>
          </ac:spMkLst>
        </pc:spChg>
      </pc:sldChg>
      <pc:sldChg chg="modSp mod">
        <pc:chgData name="Simon Hong" userId="2f15200c-b3cf-4aef-8f69-ada819764841" providerId="ADAL" clId="{6AB89950-CF24-4538-93AF-1A20832D1772}" dt="2026-10-05T22:46:19.432" v="259" actId="13926"/>
        <pc:sldMkLst>
          <pc:docMk/>
          <pc:sldMk cId="1398790604" sldId="257"/>
        </pc:sldMkLst>
        <pc:spChg chg="mod">
          <ac:chgData name="Simon Hong" userId="2f15200c-b3cf-4aef-8f69-ada819764841" providerId="ADAL" clId="{6AB89950-CF24-4538-93AF-1A20832D1772}" dt="2026-10-05T22:46:19.432" v="259" actId="13926"/>
          <ac:spMkLst>
            <pc:docMk/>
            <pc:sldMk cId="1398790604" sldId="257"/>
            <ac:spMk id="5" creationId="{D16AD41E-1846-8880-A648-92D53F3FFC7D}"/>
          </ac:spMkLst>
        </pc:spChg>
        <pc:spChg chg="mod">
          <ac:chgData name="Simon Hong" userId="2f15200c-b3cf-4aef-8f69-ada819764841" providerId="ADAL" clId="{6AB89950-CF24-4538-93AF-1A20832D1772}" dt="2026-10-05T22:01:15.256" v="242" actId="20577"/>
          <ac:spMkLst>
            <pc:docMk/>
            <pc:sldMk cId="1398790604" sldId="257"/>
            <ac:spMk id="8" creationId="{DA78FF6B-3A59-F741-67EC-6DCE89732104}"/>
          </ac:spMkLst>
        </pc:spChg>
      </pc:sldChg>
      <pc:sldChg chg="modSp mod">
        <pc:chgData name="Simon Hong" userId="2f15200c-b3cf-4aef-8f69-ada819764841" providerId="ADAL" clId="{6AB89950-CF24-4538-93AF-1A20832D1772}" dt="2026-10-05T21:54:40.551" v="196" actId="20577"/>
        <pc:sldMkLst>
          <pc:docMk/>
          <pc:sldMk cId="3773375226" sldId="258"/>
        </pc:sldMkLst>
        <pc:spChg chg="mod">
          <ac:chgData name="Simon Hong" userId="2f15200c-b3cf-4aef-8f69-ada819764841" providerId="ADAL" clId="{6AB89950-CF24-4538-93AF-1A20832D1772}" dt="2026-10-05T21:54:40.551" v="196" actId="20577"/>
          <ac:spMkLst>
            <pc:docMk/>
            <pc:sldMk cId="3773375226" sldId="258"/>
            <ac:spMk id="24" creationId="{C9130A9E-5A33-D31A-25A5-910F4FBE2ED8}"/>
          </ac:spMkLst>
        </pc:spChg>
      </pc:sldChg>
      <pc:sldChg chg="modSp mod">
        <pc:chgData name="Simon Hong" userId="2f15200c-b3cf-4aef-8f69-ada819764841" providerId="ADAL" clId="{6AB89950-CF24-4538-93AF-1A20832D1772}" dt="2026-10-05T22:03:53.867" v="249" actId="20577"/>
        <pc:sldMkLst>
          <pc:docMk/>
          <pc:sldMk cId="2772353388" sldId="259"/>
        </pc:sldMkLst>
        <pc:spChg chg="mod">
          <ac:chgData name="Simon Hong" userId="2f15200c-b3cf-4aef-8f69-ada819764841" providerId="ADAL" clId="{6AB89950-CF24-4538-93AF-1A20832D1772}" dt="2026-10-05T21:58:40.434" v="225" actId="14100"/>
          <ac:spMkLst>
            <pc:docMk/>
            <pc:sldMk cId="2772353388" sldId="259"/>
            <ac:spMk id="3" creationId="{4E64130A-5FEF-C37A-8943-B698781DA0CA}"/>
          </ac:spMkLst>
        </pc:spChg>
        <pc:spChg chg="mod">
          <ac:chgData name="Simon Hong" userId="2f15200c-b3cf-4aef-8f69-ada819764841" providerId="ADAL" clId="{6AB89950-CF24-4538-93AF-1A20832D1772}" dt="2026-10-05T22:03:53.867" v="249" actId="20577"/>
          <ac:spMkLst>
            <pc:docMk/>
            <pc:sldMk cId="2772353388" sldId="259"/>
            <ac:spMk id="4" creationId="{1ED421AE-522F-284E-B1DC-32934C5473BA}"/>
          </ac:spMkLst>
        </pc:spChg>
        <pc:spChg chg="mod">
          <ac:chgData name="Simon Hong" userId="2f15200c-b3cf-4aef-8f69-ada819764841" providerId="ADAL" clId="{6AB89950-CF24-4538-93AF-1A20832D1772}" dt="2026-10-05T21:55:02.428" v="198" actId="14100"/>
          <ac:spMkLst>
            <pc:docMk/>
            <pc:sldMk cId="2772353388" sldId="259"/>
            <ac:spMk id="7" creationId="{EAE19A95-131F-28B0-CB90-B469DC7B6136}"/>
          </ac:spMkLst>
        </pc:spChg>
      </pc:sldChg>
      <pc:sldChg chg="modSp mod">
        <pc:chgData name="Simon Hong" userId="2f15200c-b3cf-4aef-8f69-ada819764841" providerId="ADAL" clId="{6AB89950-CF24-4538-93AF-1A20832D1772}" dt="2026-10-05T21:54:22.673" v="195" actId="20577"/>
        <pc:sldMkLst>
          <pc:docMk/>
          <pc:sldMk cId="1978148395" sldId="262"/>
        </pc:sldMkLst>
        <pc:spChg chg="mod">
          <ac:chgData name="Simon Hong" userId="2f15200c-b3cf-4aef-8f69-ada819764841" providerId="ADAL" clId="{6AB89950-CF24-4538-93AF-1A20832D1772}" dt="2026-10-05T21:54:06.489" v="194" actId="20577"/>
          <ac:spMkLst>
            <pc:docMk/>
            <pc:sldMk cId="1978148395" sldId="262"/>
            <ac:spMk id="3" creationId="{F3EC2620-756A-ABF8-9135-A92A4F8DF542}"/>
          </ac:spMkLst>
        </pc:spChg>
        <pc:spChg chg="mod">
          <ac:chgData name="Simon Hong" userId="2f15200c-b3cf-4aef-8f69-ada819764841" providerId="ADAL" clId="{6AB89950-CF24-4538-93AF-1A20832D1772}" dt="2026-10-05T21:54:22.673" v="195" actId="20577"/>
          <ac:spMkLst>
            <pc:docMk/>
            <pc:sldMk cId="1978148395" sldId="262"/>
            <ac:spMk id="15" creationId="{9CC5270D-B6AC-53F4-EC22-697C67968C69}"/>
          </ac:spMkLst>
        </pc:spChg>
      </pc:sldChg>
      <pc:sldChg chg="addSp delSp modSp mod">
        <pc:chgData name="Simon Hong" userId="2f15200c-b3cf-4aef-8f69-ada819764841" providerId="ADAL" clId="{6AB89950-CF24-4538-93AF-1A20832D1772}" dt="2026-10-09T19:17:00.791" v="981" actId="1037"/>
        <pc:sldMkLst>
          <pc:docMk/>
          <pc:sldMk cId="2475521724" sldId="263"/>
        </pc:sldMkLst>
        <pc:spChg chg="mod">
          <ac:chgData name="Simon Hong" userId="2f15200c-b3cf-4aef-8f69-ada819764841" providerId="ADAL" clId="{6AB89950-CF24-4538-93AF-1A20832D1772}" dt="2026-10-09T19:12:56.982" v="965" actId="14100"/>
          <ac:spMkLst>
            <pc:docMk/>
            <pc:sldMk cId="2475521724" sldId="263"/>
            <ac:spMk id="2" creationId="{FB177F57-5024-AAC3-EAA9-97F19B2BFE68}"/>
          </ac:spMkLst>
        </pc:spChg>
        <pc:spChg chg="mod">
          <ac:chgData name="Simon Hong" userId="2f15200c-b3cf-4aef-8f69-ada819764841" providerId="ADAL" clId="{6AB89950-CF24-4538-93AF-1A20832D1772}" dt="2026-10-05T20:44:35.931" v="57" actId="6549"/>
          <ac:spMkLst>
            <pc:docMk/>
            <pc:sldMk cId="2475521724" sldId="263"/>
            <ac:spMk id="3" creationId="{44C82B57-F564-6280-53E1-EF53DD92F1C9}"/>
          </ac:spMkLst>
        </pc:spChg>
        <pc:spChg chg="mod">
          <ac:chgData name="Simon Hong" userId="2f15200c-b3cf-4aef-8f69-ada819764841" providerId="ADAL" clId="{6AB89950-CF24-4538-93AF-1A20832D1772}" dt="2026-10-09T17:48:07.767" v="522" actId="1076"/>
          <ac:spMkLst>
            <pc:docMk/>
            <pc:sldMk cId="2475521724" sldId="263"/>
            <ac:spMk id="10" creationId="{62811AE6-0830-4C40-F1BF-97EAB74EF60A}"/>
          </ac:spMkLst>
        </pc:spChg>
        <pc:spChg chg="mod">
          <ac:chgData name="Simon Hong" userId="2f15200c-b3cf-4aef-8f69-ada819764841" providerId="ADAL" clId="{6AB89950-CF24-4538-93AF-1A20832D1772}" dt="2026-10-09T17:47:25.573" v="502" actId="1035"/>
          <ac:spMkLst>
            <pc:docMk/>
            <pc:sldMk cId="2475521724" sldId="263"/>
            <ac:spMk id="13" creationId="{46C1BE4D-947F-F5CF-775E-D8E7CE94FB66}"/>
          </ac:spMkLst>
        </pc:spChg>
        <pc:spChg chg="mod">
          <ac:chgData name="Simon Hong" userId="2f15200c-b3cf-4aef-8f69-ada819764841" providerId="ADAL" clId="{6AB89950-CF24-4538-93AF-1A20832D1772}" dt="2026-10-09T17:50:07.614" v="538" actId="1076"/>
          <ac:spMkLst>
            <pc:docMk/>
            <pc:sldMk cId="2475521724" sldId="263"/>
            <ac:spMk id="14" creationId="{54D69334-E05C-B19C-C3F6-3351A743AA55}"/>
          </ac:spMkLst>
        </pc:spChg>
        <pc:spChg chg="mod">
          <ac:chgData name="Simon Hong" userId="2f15200c-b3cf-4aef-8f69-ada819764841" providerId="ADAL" clId="{6AB89950-CF24-4538-93AF-1A20832D1772}" dt="2026-10-09T17:47:30.528" v="503" actId="14100"/>
          <ac:spMkLst>
            <pc:docMk/>
            <pc:sldMk cId="2475521724" sldId="263"/>
            <ac:spMk id="16" creationId="{B593D06A-1FFF-7164-3186-B2D1D361BF79}"/>
          </ac:spMkLst>
        </pc:spChg>
        <pc:spChg chg="mod">
          <ac:chgData name="Simon Hong" userId="2f15200c-b3cf-4aef-8f69-ada819764841" providerId="ADAL" clId="{6AB89950-CF24-4538-93AF-1A20832D1772}" dt="2026-10-09T17:50:42.807" v="545" actId="1076"/>
          <ac:spMkLst>
            <pc:docMk/>
            <pc:sldMk cId="2475521724" sldId="263"/>
            <ac:spMk id="21" creationId="{657FAB87-4161-2538-7D14-E8E2AA3CF49B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23" creationId="{C6F18763-A9E1-2B43-4016-F07FD12298C5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34" creationId="{188936F9-B80A-90A8-3573-845E348D005D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38" creationId="{43621672-E1BE-E0FF-1C63-7B694986EFED}"/>
          </ac:spMkLst>
        </pc:spChg>
        <pc:spChg chg="mod">
          <ac:chgData name="Simon Hong" userId="2f15200c-b3cf-4aef-8f69-ada819764841" providerId="ADAL" clId="{6AB89950-CF24-4538-93AF-1A20832D1772}" dt="2026-10-09T17:46:59.124" v="483" actId="1036"/>
          <ac:spMkLst>
            <pc:docMk/>
            <pc:sldMk cId="2475521724" sldId="263"/>
            <ac:spMk id="44" creationId="{ED27EE2C-F2B7-4259-E54C-0C0100B2E02D}"/>
          </ac:spMkLst>
        </pc:spChg>
        <pc:spChg chg="mod">
          <ac:chgData name="Simon Hong" userId="2f15200c-b3cf-4aef-8f69-ada819764841" providerId="ADAL" clId="{6AB89950-CF24-4538-93AF-1A20832D1772}" dt="2026-10-09T17:46:59.124" v="483" actId="1036"/>
          <ac:spMkLst>
            <pc:docMk/>
            <pc:sldMk cId="2475521724" sldId="263"/>
            <ac:spMk id="46" creationId="{1C110048-5D99-9B4F-7B5E-3CA9E964CD81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63" creationId="{43F406F2-8E94-5E30-F1DE-72C08D605038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72" creationId="{5106D71A-0BEC-13B3-392C-694A475A003A}"/>
          </ac:spMkLst>
        </pc:spChg>
        <pc:spChg chg="mod">
          <ac:chgData name="Simon Hong" userId="2f15200c-b3cf-4aef-8f69-ada819764841" providerId="ADAL" clId="{6AB89950-CF24-4538-93AF-1A20832D1772}" dt="2026-10-09T17:46:59.124" v="483" actId="1036"/>
          <ac:spMkLst>
            <pc:docMk/>
            <pc:sldMk cId="2475521724" sldId="263"/>
            <ac:spMk id="73" creationId="{38C6028C-2E54-585C-15FD-19C638FD1AE3}"/>
          </ac:spMkLst>
        </pc:spChg>
        <pc:spChg chg="mod">
          <ac:chgData name="Simon Hong" userId="2f15200c-b3cf-4aef-8f69-ada819764841" providerId="ADAL" clId="{6AB89950-CF24-4538-93AF-1A20832D1772}" dt="2026-10-09T17:46:59.124" v="483" actId="1036"/>
          <ac:spMkLst>
            <pc:docMk/>
            <pc:sldMk cId="2475521724" sldId="263"/>
            <ac:spMk id="74" creationId="{A092B615-58A0-6761-FD45-BFCD684B1D6E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90" creationId="{C0BB03E8-0D67-32A2-5433-8CAA7A7697C8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91" creationId="{D8CE48DB-F0FC-0E8B-DEAF-BE699DCF8D49}"/>
          </ac:spMkLst>
        </pc:spChg>
        <pc:spChg chg="mod">
          <ac:chgData name="Simon Hong" userId="2f15200c-b3cf-4aef-8f69-ada819764841" providerId="ADAL" clId="{6AB89950-CF24-4538-93AF-1A20832D1772}" dt="2026-10-05T21:39:22.889" v="84" actId="20577"/>
          <ac:spMkLst>
            <pc:docMk/>
            <pc:sldMk cId="2475521724" sldId="263"/>
            <ac:spMk id="92" creationId="{3C97C1DA-4FFC-147D-7A8A-1401A9839AAF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97" creationId="{965DC3F9-0AB2-A42E-02DC-C2DD60611F65}"/>
          </ac:spMkLst>
        </pc:spChg>
        <pc:spChg chg="mod">
          <ac:chgData name="Simon Hong" userId="2f15200c-b3cf-4aef-8f69-ada819764841" providerId="ADAL" clId="{6AB89950-CF24-4538-93AF-1A20832D1772}" dt="2026-10-09T17:46:59.124" v="483" actId="1036"/>
          <ac:spMkLst>
            <pc:docMk/>
            <pc:sldMk cId="2475521724" sldId="263"/>
            <ac:spMk id="108" creationId="{0ECD30BB-30A6-AB49-10A3-FBBFE805BA89}"/>
          </ac:spMkLst>
        </pc:spChg>
        <pc:spChg chg="mod">
          <ac:chgData name="Simon Hong" userId="2f15200c-b3cf-4aef-8f69-ada819764841" providerId="ADAL" clId="{6AB89950-CF24-4538-93AF-1A20832D1772}" dt="2026-10-09T17:46:59.124" v="483" actId="1036"/>
          <ac:spMkLst>
            <pc:docMk/>
            <pc:sldMk cId="2475521724" sldId="263"/>
            <ac:spMk id="110" creationId="{2AAD4B30-23DB-BE04-7E18-E090DBCF22EC}"/>
          </ac:spMkLst>
        </pc:spChg>
        <pc:spChg chg="mod">
          <ac:chgData name="Simon Hong" userId="2f15200c-b3cf-4aef-8f69-ada819764841" providerId="ADAL" clId="{6AB89950-CF24-4538-93AF-1A20832D1772}" dt="2026-10-05T21:44:24.683" v="132" actId="113"/>
          <ac:spMkLst>
            <pc:docMk/>
            <pc:sldMk cId="2475521724" sldId="263"/>
            <ac:spMk id="113" creationId="{C9560F2E-B965-2C39-CFF6-2CE892DE4C5C}"/>
          </ac:spMkLst>
        </pc:spChg>
        <pc:spChg chg="mod ord">
          <ac:chgData name="Simon Hong" userId="2f15200c-b3cf-4aef-8f69-ada819764841" providerId="ADAL" clId="{6AB89950-CF24-4538-93AF-1A20832D1772}" dt="2026-10-09T19:13:36.076" v="968" actId="14100"/>
          <ac:spMkLst>
            <pc:docMk/>
            <pc:sldMk cId="2475521724" sldId="263"/>
            <ac:spMk id="118" creationId="{EA6F7C5F-6F23-F607-F50F-0828F4266A53}"/>
          </ac:spMkLst>
        </pc:spChg>
        <pc:spChg chg="mod">
          <ac:chgData name="Simon Hong" userId="2f15200c-b3cf-4aef-8f69-ada819764841" providerId="ADAL" clId="{6AB89950-CF24-4538-93AF-1A20832D1772}" dt="2026-10-09T17:46:59.124" v="483" actId="1036"/>
          <ac:spMkLst>
            <pc:docMk/>
            <pc:sldMk cId="2475521724" sldId="263"/>
            <ac:spMk id="122" creationId="{C5617F28-5962-DD22-71E0-2DB551477752}"/>
          </ac:spMkLst>
        </pc:spChg>
        <pc:spChg chg="mod">
          <ac:chgData name="Simon Hong" userId="2f15200c-b3cf-4aef-8f69-ada819764841" providerId="ADAL" clId="{6AB89950-CF24-4538-93AF-1A20832D1772}" dt="2026-10-09T17:46:59.124" v="483" actId="1036"/>
          <ac:spMkLst>
            <pc:docMk/>
            <pc:sldMk cId="2475521724" sldId="263"/>
            <ac:spMk id="124" creationId="{53DA67CD-86CF-7C6C-34BD-6C7F76498A29}"/>
          </ac:spMkLst>
        </pc:spChg>
        <pc:spChg chg="mod">
          <ac:chgData name="Simon Hong" userId="2f15200c-b3cf-4aef-8f69-ada819764841" providerId="ADAL" clId="{6AB89950-CF24-4538-93AF-1A20832D1772}" dt="2026-10-09T17:46:59.124" v="483" actId="1036"/>
          <ac:spMkLst>
            <pc:docMk/>
            <pc:sldMk cId="2475521724" sldId="263"/>
            <ac:spMk id="127" creationId="{F431DBF2-9389-2478-8905-14261D9D60EB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129" creationId="{7F7A31E6-7415-EFBA-02D8-3223D4889088}"/>
          </ac:spMkLst>
        </pc:spChg>
        <pc:spChg chg="mod">
          <ac:chgData name="Simon Hong" userId="2f15200c-b3cf-4aef-8f69-ada819764841" providerId="ADAL" clId="{6AB89950-CF24-4538-93AF-1A20832D1772}" dt="2026-10-09T19:17:00.791" v="981" actId="1037"/>
          <ac:spMkLst>
            <pc:docMk/>
            <pc:sldMk cId="2475521724" sldId="263"/>
            <ac:spMk id="132" creationId="{0D77CCE7-1645-D03F-9FDF-9718737ED569}"/>
          </ac:spMkLst>
        </pc:spChg>
        <pc:spChg chg="mod">
          <ac:chgData name="Simon Hong" userId="2f15200c-b3cf-4aef-8f69-ada819764841" providerId="ADAL" clId="{6AB89950-CF24-4538-93AF-1A20832D1772}" dt="2026-10-09T17:50:01.805" v="537" actId="14100"/>
          <ac:spMkLst>
            <pc:docMk/>
            <pc:sldMk cId="2475521724" sldId="263"/>
            <ac:spMk id="136" creationId="{7DD72A52-D7D1-8454-9E09-E454031BA21D}"/>
          </ac:spMkLst>
        </pc:spChg>
        <pc:spChg chg="mod">
          <ac:chgData name="Simon Hong" userId="2f15200c-b3cf-4aef-8f69-ada819764841" providerId="ADAL" clId="{6AB89950-CF24-4538-93AF-1A20832D1772}" dt="2026-10-09T17:52:49.442" v="775" actId="20577"/>
          <ac:spMkLst>
            <pc:docMk/>
            <pc:sldMk cId="2475521724" sldId="263"/>
            <ac:spMk id="146" creationId="{2DB6D99C-D67E-4DB8-802A-D1D2FDC211A3}"/>
          </ac:spMkLst>
        </pc:spChg>
        <pc:spChg chg="add mod">
          <ac:chgData name="Simon Hong" userId="2f15200c-b3cf-4aef-8f69-ada819764841" providerId="ADAL" clId="{6AB89950-CF24-4538-93AF-1A20832D1772}" dt="2026-10-09T17:49:36.480" v="534" actId="20577"/>
          <ac:spMkLst>
            <pc:docMk/>
            <pc:sldMk cId="2475521724" sldId="263"/>
            <ac:spMk id="169" creationId="{45B5BACE-5E75-DB60-BB3C-CEFD60FA53CF}"/>
          </ac:spMkLst>
        </pc:spChg>
        <pc:spChg chg="add mod">
          <ac:chgData name="Simon Hong" userId="2f15200c-b3cf-4aef-8f69-ada819764841" providerId="ADAL" clId="{6AB89950-CF24-4538-93AF-1A20832D1772}" dt="2026-10-09T17:48:05.408" v="520" actId="571"/>
          <ac:spMkLst>
            <pc:docMk/>
            <pc:sldMk cId="2475521724" sldId="263"/>
            <ac:spMk id="171" creationId="{48432214-1A91-D5AB-DC05-26F93358FB0B}"/>
          </ac:spMkLst>
        </pc:spChg>
        <pc:spChg chg="add mod">
          <ac:chgData name="Simon Hong" userId="2f15200c-b3cf-4aef-8f69-ada819764841" providerId="ADAL" clId="{6AB89950-CF24-4538-93AF-1A20832D1772}" dt="2026-10-09T17:48:14.639" v="524" actId="571"/>
          <ac:spMkLst>
            <pc:docMk/>
            <pc:sldMk cId="2475521724" sldId="263"/>
            <ac:spMk id="172" creationId="{16715D96-15CD-2B13-D578-54E2633BF4CF}"/>
          </ac:spMkLst>
        </pc:spChg>
        <pc:spChg chg="add mod">
          <ac:chgData name="Simon Hong" userId="2f15200c-b3cf-4aef-8f69-ada819764841" providerId="ADAL" clId="{6AB89950-CF24-4538-93AF-1A20832D1772}" dt="2026-10-09T17:50:11.346" v="539" actId="571"/>
          <ac:spMkLst>
            <pc:docMk/>
            <pc:sldMk cId="2475521724" sldId="263"/>
            <ac:spMk id="178" creationId="{F836A25F-ECCB-CADD-A312-90E74D438996}"/>
          </ac:spMkLst>
        </pc:spChg>
        <pc:spChg chg="add mod">
          <ac:chgData name="Simon Hong" userId="2f15200c-b3cf-4aef-8f69-ada819764841" providerId="ADAL" clId="{6AB89950-CF24-4538-93AF-1A20832D1772}" dt="2026-10-09T17:53:49.145" v="778" actId="6549"/>
          <ac:spMkLst>
            <pc:docMk/>
            <pc:sldMk cId="2475521724" sldId="263"/>
            <ac:spMk id="183" creationId="{173415F7-DF5F-69E6-5E0A-FE99A5D5C93E}"/>
          </ac:spMkLst>
        </pc:spChg>
        <pc:spChg chg="add mod">
          <ac:chgData name="Simon Hong" userId="2f15200c-b3cf-4aef-8f69-ada819764841" providerId="ADAL" clId="{6AB89950-CF24-4538-93AF-1A20832D1772}" dt="2026-10-09T17:53:06.446" v="776" actId="571"/>
          <ac:spMkLst>
            <pc:docMk/>
            <pc:sldMk cId="2475521724" sldId="263"/>
            <ac:spMk id="184" creationId="{44B30D09-1C01-3CCA-4C85-1801DD1D151F}"/>
          </ac:spMkLst>
        </pc:spChg>
        <pc:grpChg chg="mod">
          <ac:chgData name="Simon Hong" userId="2f15200c-b3cf-4aef-8f69-ada819764841" providerId="ADAL" clId="{6AB89950-CF24-4538-93AF-1A20832D1772}" dt="2026-10-09T19:13:41.351" v="969" actId="14100"/>
          <ac:grpSpMkLst>
            <pc:docMk/>
            <pc:sldMk cId="2475521724" sldId="263"/>
            <ac:grpSpMk id="40" creationId="{3B9F416B-9ECD-9F7F-7184-A871F2493A26}"/>
          </ac:grpSpMkLst>
        </pc:grpChg>
        <pc:cxnChg chg="mod">
          <ac:chgData name="Simon Hong" userId="2f15200c-b3cf-4aef-8f69-ada819764841" providerId="ADAL" clId="{6AB89950-CF24-4538-93AF-1A20832D1772}" dt="2026-10-09T17:49:27.774" v="529" actId="14100"/>
          <ac:cxnSpMkLst>
            <pc:docMk/>
            <pc:sldMk cId="2475521724" sldId="263"/>
            <ac:cxnSpMk id="12" creationId="{FF772285-D127-0495-87FD-D16B17880798}"/>
          </ac:cxnSpMkLst>
        </pc:cxnChg>
        <pc:cxnChg chg="mod">
          <ac:chgData name="Simon Hong" userId="2f15200c-b3cf-4aef-8f69-ada819764841" providerId="ADAL" clId="{6AB89950-CF24-4538-93AF-1A20832D1772}" dt="2026-10-09T17:47:30.528" v="503" actId="14100"/>
          <ac:cxnSpMkLst>
            <pc:docMk/>
            <pc:sldMk cId="2475521724" sldId="263"/>
            <ac:cxnSpMk id="17" creationId="{8868319C-E4D0-6162-113D-4B5C03B105BF}"/>
          </ac:cxnSpMkLst>
        </pc:cxnChg>
        <pc:cxnChg chg="mod">
          <ac:chgData name="Simon Hong" userId="2f15200c-b3cf-4aef-8f69-ada819764841" providerId="ADAL" clId="{6AB89950-CF24-4538-93AF-1A20832D1772}" dt="2026-10-09T19:13:41.351" v="969" actId="14100"/>
          <ac:cxnSpMkLst>
            <pc:docMk/>
            <pc:sldMk cId="2475521724" sldId="263"/>
            <ac:cxnSpMk id="19" creationId="{A48D1EAD-4473-D33D-055D-F1EE8D39E577}"/>
          </ac:cxnSpMkLst>
        </pc:cxnChg>
        <pc:cxnChg chg="mod">
          <ac:chgData name="Simon Hong" userId="2f15200c-b3cf-4aef-8f69-ada819764841" providerId="ADAL" clId="{6AB89950-CF24-4538-93AF-1A20832D1772}" dt="2026-10-09T17:47:30.528" v="503" actId="14100"/>
          <ac:cxnSpMkLst>
            <pc:docMk/>
            <pc:sldMk cId="2475521724" sldId="263"/>
            <ac:cxnSpMk id="27" creationId="{7AB95253-F988-AF50-58D0-FA2FDA4A4A4B}"/>
          </ac:cxnSpMkLst>
        </pc:cxnChg>
        <pc:cxnChg chg="mod">
          <ac:chgData name="Simon Hong" userId="2f15200c-b3cf-4aef-8f69-ada819764841" providerId="ADAL" clId="{6AB89950-CF24-4538-93AF-1A20832D1772}" dt="2026-10-09T17:47:25.573" v="502" actId="1035"/>
          <ac:cxnSpMkLst>
            <pc:docMk/>
            <pc:sldMk cId="2475521724" sldId="263"/>
            <ac:cxnSpMk id="28" creationId="{71A64148-BF6A-F42D-4A5B-2146B1AA03D5}"/>
          </ac:cxnSpMkLst>
        </pc:cxn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48" creationId="{5B500163-2843-83B8-5587-E599DF5ACDB9}"/>
          </ac:cxnSpMkLst>
        </pc:cxnChg>
        <pc:cxnChg chg="mod">
          <ac:chgData name="Simon Hong" userId="2f15200c-b3cf-4aef-8f69-ada819764841" providerId="ADAL" clId="{6AB89950-CF24-4538-93AF-1A20832D1772}" dt="2026-10-09T19:13:41.351" v="969" actId="14100"/>
          <ac:cxnSpMkLst>
            <pc:docMk/>
            <pc:sldMk cId="2475521724" sldId="263"/>
            <ac:cxnSpMk id="69" creationId="{4303B419-E5B6-B3F4-877A-E555DC5CEAE6}"/>
          </ac:cxnSpMkLst>
        </pc:cxnChg>
        <pc:cxnChg chg="mod">
          <ac:chgData name="Simon Hong" userId="2f15200c-b3cf-4aef-8f69-ada819764841" providerId="ADAL" clId="{6AB89950-CF24-4538-93AF-1A20832D1772}" dt="2026-10-09T17:53:24.206" v="777" actId="14100"/>
          <ac:cxnSpMkLst>
            <pc:docMk/>
            <pc:sldMk cId="2475521724" sldId="263"/>
            <ac:cxnSpMk id="77" creationId="{1E61221B-F371-4C45-109F-71CEEE07AD58}"/>
          </ac:cxnSpMkLst>
        </pc:cxnChg>
        <pc:cxnChg chg="mod">
          <ac:chgData name="Simon Hong" userId="2f15200c-b3cf-4aef-8f69-ada819764841" providerId="ADAL" clId="{6AB89950-CF24-4538-93AF-1A20832D1772}" dt="2026-10-09T19:13:41.351" v="969" actId="14100"/>
          <ac:cxnSpMkLst>
            <pc:docMk/>
            <pc:sldMk cId="2475521724" sldId="263"/>
            <ac:cxnSpMk id="79" creationId="{76E23DB5-63B1-93EE-7F8A-014F3358B88F}"/>
          </ac:cxnSpMkLst>
        </pc:cxn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106" creationId="{F0F0C8A2-87A9-8555-5D6D-5F1E44F2C393}"/>
          </ac:cxnSpMkLst>
        </pc:cxnChg>
        <pc:cxnChg chg="mod">
          <ac:chgData name="Simon Hong" userId="2f15200c-b3cf-4aef-8f69-ada819764841" providerId="ADAL" clId="{6AB89950-CF24-4538-93AF-1A20832D1772}" dt="2026-10-09T19:13:41.351" v="969" actId="14100"/>
          <ac:cxnSpMkLst>
            <pc:docMk/>
            <pc:sldMk cId="2475521724" sldId="263"/>
            <ac:cxnSpMk id="119" creationId="{31C64937-85AA-EB52-B850-82E723854C69}"/>
          </ac:cxnSpMkLst>
        </pc:cxnChg>
        <pc:cxnChg chg="del mod">
          <ac:chgData name="Simon Hong" userId="2f15200c-b3cf-4aef-8f69-ada819764841" providerId="ADAL" clId="{6AB89950-CF24-4538-93AF-1A20832D1772}" dt="2026-10-09T19:10:16.295" v="913" actId="478"/>
          <ac:cxnSpMkLst>
            <pc:docMk/>
            <pc:sldMk cId="2475521724" sldId="263"/>
            <ac:cxnSpMk id="121" creationId="{1D5C3394-70DE-0F89-EC59-E822C95878F7}"/>
          </ac:cxnSpMkLst>
        </pc:cxnChg>
        <pc:cxnChg chg="add del mod">
          <ac:chgData name="Simon Hong" userId="2f15200c-b3cf-4aef-8f69-ada819764841" providerId="ADAL" clId="{6AB89950-CF24-4538-93AF-1A20832D1772}" dt="2026-10-09T19:10:08.654" v="912" actId="478"/>
          <ac:cxnSpMkLst>
            <pc:docMk/>
            <pc:sldMk cId="2475521724" sldId="263"/>
            <ac:cxnSpMk id="126" creationId="{D36CCBE3-55A9-2EC9-358E-0E114B9FAA65}"/>
          </ac:cxnSpMkLst>
        </pc:cxn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140" creationId="{052D76A9-30EB-C1D0-3A6B-FD78C094AFD5}"/>
          </ac:cxnSpMkLst>
        </pc:cxn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153" creationId="{1DAC14CF-E9D1-99D9-87A7-A905709FEC19}"/>
          </ac:cxnSpMkLst>
        </pc:cxnChg>
        <pc:cxnChg chg="mod">
          <ac:chgData name="Simon Hong" userId="2f15200c-b3cf-4aef-8f69-ada819764841" providerId="ADAL" clId="{6AB89950-CF24-4538-93AF-1A20832D1772}" dt="2026-10-05T22:04:37.659" v="253" actId="14100"/>
          <ac:cxnSpMkLst>
            <pc:docMk/>
            <pc:sldMk cId="2475521724" sldId="263"/>
            <ac:cxnSpMk id="156" creationId="{31DAFEF0-D002-428A-5E10-87B66E1AB213}"/>
          </ac:cxnSpMkLst>
        </pc:cxnChg>
        <pc:cxnChg chg="add del mod">
          <ac:chgData name="Simon Hong" userId="2f15200c-b3cf-4aef-8f69-ada819764841" providerId="ADAL" clId="{6AB89950-CF24-4538-93AF-1A20832D1772}" dt="2026-10-09T19:11:18.256" v="924" actId="478"/>
          <ac:cxnSpMkLst>
            <pc:docMk/>
            <pc:sldMk cId="2475521724" sldId="263"/>
            <ac:cxnSpMk id="162" creationId="{2556571A-BC8C-D379-7E03-1AF7BD5C6F14}"/>
          </ac:cxnSpMkLst>
        </pc:cxnChg>
        <pc:cxnChg chg="add mod">
          <ac:chgData name="Simon Hong" userId="2f15200c-b3cf-4aef-8f69-ada819764841" providerId="ADAL" clId="{6AB89950-CF24-4538-93AF-1A20832D1772}" dt="2026-10-09T19:13:36.076" v="968" actId="14100"/>
          <ac:cxnSpMkLst>
            <pc:docMk/>
            <pc:sldMk cId="2475521724" sldId="263"/>
            <ac:cxnSpMk id="166" creationId="{29BDAEC3-B0F1-2AD5-D395-42FF5665ADAB}"/>
          </ac:cxnSpMkLst>
        </pc:cxnChg>
        <pc:cxnChg chg="add mod">
          <ac:chgData name="Simon Hong" userId="2f15200c-b3cf-4aef-8f69-ada819764841" providerId="ADAL" clId="{6AB89950-CF24-4538-93AF-1A20832D1772}" dt="2026-10-09T17:49:27.774" v="529" actId="14100"/>
          <ac:cxnSpMkLst>
            <pc:docMk/>
            <pc:sldMk cId="2475521724" sldId="263"/>
            <ac:cxnSpMk id="173" creationId="{D84BBED4-F848-E6B6-AA6F-C6419EA0C04A}"/>
          </ac:cxnSpMkLst>
        </pc:cxnChg>
        <pc:cxnChg chg="add del mod">
          <ac:chgData name="Simon Hong" userId="2f15200c-b3cf-4aef-8f69-ada819764841" providerId="ADAL" clId="{6AB89950-CF24-4538-93AF-1A20832D1772}" dt="2026-10-09T17:50:19.577" v="541" actId="478"/>
          <ac:cxnSpMkLst>
            <pc:docMk/>
            <pc:sldMk cId="2475521724" sldId="263"/>
            <ac:cxnSpMk id="179" creationId="{26D48696-37F1-9C7D-B222-200C3DA4BBF1}"/>
          </ac:cxnSpMkLst>
        </pc:cxnChg>
        <pc:cxnChg chg="add mod">
          <ac:chgData name="Simon Hong" userId="2f15200c-b3cf-4aef-8f69-ada819764841" providerId="ADAL" clId="{6AB89950-CF24-4538-93AF-1A20832D1772}" dt="2026-10-09T19:13:41.351" v="969" actId="14100"/>
          <ac:cxnSpMkLst>
            <pc:docMk/>
            <pc:sldMk cId="2475521724" sldId="263"/>
            <ac:cxnSpMk id="180" creationId="{F963A72C-4A8E-BBFE-0674-5EA1411A3275}"/>
          </ac:cxnSpMkLst>
        </pc:cxnChg>
      </pc:sldChg>
      <pc:sldChg chg="addSp delSp modSp add mod">
        <pc:chgData name="Simon Hong" userId="2f15200c-b3cf-4aef-8f69-ada819764841" providerId="ADAL" clId="{6AB89950-CF24-4538-93AF-1A20832D1772}" dt="2026-10-09T16:54:40.319" v="462"/>
        <pc:sldMkLst>
          <pc:docMk/>
          <pc:sldMk cId="0" sldId="264"/>
        </pc:sldMkLst>
        <pc:spChg chg="mod">
          <ac:chgData name="Simon Hong" userId="2f15200c-b3cf-4aef-8f69-ada819764841" providerId="ADAL" clId="{6AB89950-CF24-4538-93AF-1A20832D1772}" dt="2026-10-06T03:55:56.543" v="369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2:46.456" v="262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3:06.924" v="265" actId="1582"/>
          <ac:spMkLst>
            <pc:docMk/>
            <pc:sldMk cId="0" sldId="264"/>
            <ac:spMk id="5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3:06.924" v="265" actId="1582"/>
          <ac:spMkLst>
            <pc:docMk/>
            <pc:sldMk cId="0" sldId="264"/>
            <ac:spMk id="6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3:06.924" v="265" actId="1582"/>
          <ac:spMkLst>
            <pc:docMk/>
            <pc:sldMk cId="0" sldId="264"/>
            <ac:spMk id="7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54:31.219" v="347" actId="103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57:58.280" v="452" actId="1410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4:15.741" v="275" actId="404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4:15.741" v="275" actId="404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6T03:42:46.469" v="263" actId="27636"/>
          <ac:spMkLst>
            <pc:docMk/>
            <pc:sldMk cId="0" sldId="264"/>
            <ac:spMk id="19" creationId="{00000000-0000-0000-0000-000000000000}"/>
          </ac:spMkLst>
        </pc:spChg>
        <pc:spChg chg="add mod">
          <ac:chgData name="Simon Hong" userId="2f15200c-b3cf-4aef-8f69-ada819764841" providerId="ADAL" clId="{6AB89950-CF24-4538-93AF-1A20832D1772}" dt="2026-10-09T16:54:40.319" v="462"/>
          <ac:spMkLst>
            <pc:docMk/>
            <pc:sldMk cId="0" sldId="264"/>
            <ac:spMk id="21" creationId="{EB52BBD8-5662-934C-E56F-1598C441506B}"/>
          </ac:spMkLst>
        </pc:spChg>
      </pc:sldChg>
      <pc:sldChg chg="modSp add mod setBg">
        <pc:chgData name="Simon Hong" userId="2f15200c-b3cf-4aef-8f69-ada819764841" providerId="ADAL" clId="{6AB89950-CF24-4538-93AF-1A20832D1772}" dt="2026-10-09T17:22:29.848" v="465" actId="108"/>
        <pc:sldMkLst>
          <pc:docMk/>
          <pc:sldMk cId="0" sldId="265"/>
        </pc:sldMkLst>
        <pc:spChg chg="mod">
          <ac:chgData name="Simon Hong" userId="2f15200c-b3cf-4aef-8f69-ada819764841" providerId="ADAL" clId="{6AB89950-CF24-4538-93AF-1A20832D1772}" dt="2026-10-09T17:22:29.848" v="465" actId="108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add mod">
        <pc:chgData name="Simon Hong" userId="2f15200c-b3cf-4aef-8f69-ada819764841" providerId="ADAL" clId="{6AB89950-CF24-4538-93AF-1A20832D1772}" dt="2026-10-09T18:59:46.581" v="908" actId="1035"/>
        <pc:sldMkLst>
          <pc:docMk/>
          <pc:sldMk cId="0" sldId="266"/>
        </pc:sldMkLst>
        <pc:spChg chg="mod">
          <ac:chgData name="Simon Hong" userId="2f15200c-b3cf-4aef-8f69-ada819764841" providerId="ADAL" clId="{6AB89950-CF24-4538-93AF-1A20832D1772}" dt="2026-10-09T18:52:05.716" v="780" actId="108"/>
          <ac:spMkLst>
            <pc:docMk/>
            <pc:sldMk cId="0" sldId="266"/>
            <ac:spMk id="3" creationId="{00000000-0000-0000-0000-000000000000}"/>
          </ac:spMkLst>
        </pc:spChg>
        <pc:spChg chg="add del mod">
          <ac:chgData name="Simon Hong" userId="2f15200c-b3cf-4aef-8f69-ada819764841" providerId="ADAL" clId="{6AB89950-CF24-4538-93AF-1A20832D1772}" dt="2026-10-09T18:58:06.344" v="866" actId="6549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Simon Hong" userId="2f15200c-b3cf-4aef-8f69-ada819764841" providerId="ADAL" clId="{6AB89950-CF24-4538-93AF-1A20832D1772}" dt="2026-10-09T18:58:25.981" v="867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Simon Hong" userId="2f15200c-b3cf-4aef-8f69-ada819764841" providerId="ADAL" clId="{6AB89950-CF24-4538-93AF-1A20832D1772}" dt="2026-10-09T18:58:29.248" v="868" actId="478"/>
          <ac:spMkLst>
            <pc:docMk/>
            <pc:sldMk cId="0" sldId="266"/>
            <ac:spMk id="7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24.301" v="884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6:44.785" v="823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6:44.785" v="823" actId="10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19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20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6:44.785" v="823" actId="103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23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24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9:46.581" v="908" actId="1035"/>
          <ac:spMkLst>
            <pc:docMk/>
            <pc:sldMk cId="0" sldId="266"/>
            <ac:spMk id="25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6:44.785" v="823" actId="1036"/>
          <ac:spMkLst>
            <pc:docMk/>
            <pc:sldMk cId="0" sldId="266"/>
            <ac:spMk id="31" creationId="{00000000-0000-0000-0000-000000000000}"/>
          </ac:spMkLst>
        </pc:spChg>
        <pc:spChg chg="mod">
          <ac:chgData name="Simon Hong" userId="2f15200c-b3cf-4aef-8f69-ada819764841" providerId="ADAL" clId="{6AB89950-CF24-4538-93AF-1A20832D1772}" dt="2026-10-09T18:56:44.785" v="823" actId="1036"/>
          <ac:spMkLst>
            <pc:docMk/>
            <pc:sldMk cId="0" sldId="266"/>
            <ac:spMk id="37" creationId="{00000000-0000-0000-0000-000000000000}"/>
          </ac:spMkLst>
        </pc:spChg>
        <pc:spChg chg="del">
          <ac:chgData name="Simon Hong" userId="2f15200c-b3cf-4aef-8f69-ada819764841" providerId="ADAL" clId="{6AB89950-CF24-4538-93AF-1A20832D1772}" dt="2026-10-09T18:56:34.167" v="797" actId="478"/>
          <ac:spMkLst>
            <pc:docMk/>
            <pc:sldMk cId="0" sldId="266"/>
            <ac:spMk id="4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A66AB-9790-4ABA-88B7-628CDEBB8E90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7DA61-7C0A-43D5-A757-88F34DB8D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env.example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7DA61-7C0A-43D5-A757-88F34DB8D2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32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4040507"/>
            <a:ext cx="32918400" cy="859536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2967337"/>
            <a:ext cx="32918400" cy="5960743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07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6155059"/>
            <a:ext cx="37856160" cy="10269853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6522069"/>
            <a:ext cx="37856160" cy="5400673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7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6572250"/>
            <a:ext cx="1865376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6572250"/>
            <a:ext cx="1865376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7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314452"/>
            <a:ext cx="37856160" cy="47720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6052187"/>
            <a:ext cx="18568033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9018270"/>
            <a:ext cx="18568033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6052187"/>
            <a:ext cx="18659477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9018270"/>
            <a:ext cx="18659477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8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1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4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645920"/>
            <a:ext cx="14156053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3554732"/>
            <a:ext cx="22219920" cy="1754505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406640"/>
            <a:ext cx="14156053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1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645920"/>
            <a:ext cx="14156053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3554732"/>
            <a:ext cx="22219920" cy="1754505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406640"/>
            <a:ext cx="14156053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9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3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314450"/>
            <a:ext cx="9464040" cy="209226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314450"/>
            <a:ext cx="27843480" cy="209226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71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4890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314452"/>
            <a:ext cx="37856160" cy="4772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6572250"/>
            <a:ext cx="37856160" cy="15664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2882862"/>
            <a:ext cx="987552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A138A-FC8D-465A-8B24-91162DC3A8E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2882862"/>
            <a:ext cx="1481328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2882862"/>
            <a:ext cx="987552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7F822-A05C-44FA-8881-5B55DC12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6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72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 algn="ctr" defTabSz="3291840" rtl="0" eaLnBrk="1" latinLnBrk="0" hangingPunct="1"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4440" indent="-1234440" algn="l" defTabSz="3291840" rtl="0" eaLnBrk="1" latinLnBrk="0" hangingPunct="1">
        <a:spcBef>
          <a:spcPct val="20000"/>
        </a:spcBef>
        <a:buFont typeface="Arial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1pPr>
      <a:lvl2pPr marL="2674620" indent="-1028700" algn="l" defTabSz="3291840" rtl="0" eaLnBrk="1" latinLnBrk="0" hangingPunct="1">
        <a:spcBef>
          <a:spcPct val="20000"/>
        </a:spcBef>
        <a:buFont typeface="Arial" pitchFamily="34" charset="0"/>
        <a:buChar char="–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spcBef>
          <a:spcPct val="20000"/>
        </a:spcBef>
        <a:buFont typeface="Arial" pitchFamily="34" charset="0"/>
        <a:buChar char="–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spcBef>
          <a:spcPct val="20000"/>
        </a:spcBef>
        <a:buFont typeface="Arial" pitchFamily="34" charset="0"/>
        <a:buChar char="»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spcBef>
          <a:spcPct val="20000"/>
        </a:spcBef>
        <a:buFont typeface="Arial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1154F7B9-4A57-8D5B-BEAE-A2AB962DC720}"/>
              </a:ext>
            </a:extLst>
          </p:cNvPr>
          <p:cNvSpPr/>
          <p:nvPr/>
        </p:nvSpPr>
        <p:spPr>
          <a:xfrm>
            <a:off x="0" y="0"/>
            <a:ext cx="43886520" cy="1299600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143000" indent="-1143000" algn="ctr">
              <a:lnSpc>
                <a:spcPct val="100000"/>
              </a:lnSpc>
              <a:spcBef>
                <a:spcPts val="1621"/>
              </a:spcBef>
              <a:buNone/>
              <a:tabLst>
                <a:tab pos="0" algn="l"/>
              </a:tabLst>
            </a:pPr>
            <a:r>
              <a:rPr lang="en-US" sz="8100" b="1" strike="noStrike" spc="-1" dirty="0">
                <a:solidFill>
                  <a:srgbClr val="0000FF"/>
                </a:solidFill>
                <a:latin typeface="Arial"/>
                <a:ea typeface="DejaVu Sans"/>
              </a:rPr>
              <a:t>No-Trust-Me Agentic AI</a:t>
            </a:r>
            <a:endParaRPr lang="en-US" sz="8100" b="0" strike="noStrike" spc="-1" dirty="0">
              <a:latin typeface="Arial"/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E87272D-655E-FEF3-7D36-196CD5AF605B}"/>
              </a:ext>
            </a:extLst>
          </p:cNvPr>
          <p:cNvSpPr/>
          <p:nvPr/>
        </p:nvSpPr>
        <p:spPr>
          <a:xfrm>
            <a:off x="20789538" y="4607394"/>
            <a:ext cx="1905000" cy="2362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CA99E9-A7D2-5021-367D-D5D6C42ED72C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30632400" y="4496440"/>
            <a:ext cx="0" cy="68452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F9A0E0E-1C8E-B6B5-F7A6-5A9FC78A94DD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30632400" y="6477000"/>
            <a:ext cx="0" cy="7069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14BAD9C-627F-9524-6208-4D935E1A6D95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30632400" y="8479971"/>
            <a:ext cx="0" cy="129435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F1E2D91-AA79-416E-1AE9-0C6AA04418EE}"/>
              </a:ext>
            </a:extLst>
          </p:cNvPr>
          <p:cNvSpPr txBox="1"/>
          <p:nvPr/>
        </p:nvSpPr>
        <p:spPr>
          <a:xfrm>
            <a:off x="25831800" y="1447800"/>
            <a:ext cx="9372600" cy="1458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6600" b="1" dirty="0">
                <a:solidFill>
                  <a:srgbClr val="CC00FF"/>
                </a:solidFill>
                <a:latin typeface="Calibri"/>
              </a:rPr>
              <a:t>“No-Trust-Me”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Agentic AI</a:t>
            </a:r>
            <a:endParaRPr lang="en-US" sz="6600" b="1" dirty="0">
              <a:solidFill>
                <a:srgbClr val="CC00FF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1C454C-8436-9644-E195-141CF6227B03}"/>
              </a:ext>
            </a:extLst>
          </p:cNvPr>
          <p:cNvSpPr txBox="1"/>
          <p:nvPr/>
        </p:nvSpPr>
        <p:spPr>
          <a:xfrm>
            <a:off x="36554229" y="12122698"/>
            <a:ext cx="52033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“No-Trust-Me” policy</a:t>
            </a:r>
            <a:endParaRPr lang="en-US" sz="4400" dirty="0">
              <a:highlight>
                <a:srgbClr val="FFFF00"/>
              </a:highlight>
              <a:latin typeface="Calibri"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5F1E6F2B-605E-B779-C927-F0473F4BD96F}"/>
              </a:ext>
            </a:extLst>
          </p:cNvPr>
          <p:cNvSpPr/>
          <p:nvPr/>
        </p:nvSpPr>
        <p:spPr>
          <a:xfrm flipH="1">
            <a:off x="35498311" y="10058400"/>
            <a:ext cx="718457" cy="4898038"/>
          </a:xfrm>
          <a:prstGeom prst="leftBrace">
            <a:avLst>
              <a:gd name="adj1" fmla="val 7690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7B7751-D991-E3C9-31EB-F17307A7C39F}"/>
              </a:ext>
            </a:extLst>
          </p:cNvPr>
          <p:cNvCxnSpPr>
            <a:cxnSpLocks/>
            <a:stCxn id="52" idx="2"/>
            <a:endCxn id="42" idx="0"/>
          </p:cNvCxnSpPr>
          <p:nvPr/>
        </p:nvCxnSpPr>
        <p:spPr>
          <a:xfrm>
            <a:off x="30632400" y="19278600"/>
            <a:ext cx="0" cy="3810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BC1A1ED-DFAB-291F-2E5F-9965C629CE85}"/>
              </a:ext>
            </a:extLst>
          </p:cNvPr>
          <p:cNvSpPr/>
          <p:nvPr/>
        </p:nvSpPr>
        <p:spPr>
          <a:xfrm>
            <a:off x="26219330" y="3200400"/>
            <a:ext cx="8826140" cy="12960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 BRD (for LLM)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83CD54-3495-F9A2-7E41-2022274A0302}"/>
              </a:ext>
            </a:extLst>
          </p:cNvPr>
          <p:cNvSpPr/>
          <p:nvPr/>
        </p:nvSpPr>
        <p:spPr>
          <a:xfrm>
            <a:off x="26219330" y="5180960"/>
            <a:ext cx="8826140" cy="129604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 LLM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FC33F70-52FE-EB2A-03EF-4D7F8855A2F8}"/>
              </a:ext>
            </a:extLst>
          </p:cNvPr>
          <p:cNvSpPr/>
          <p:nvPr/>
        </p:nvSpPr>
        <p:spPr>
          <a:xfrm>
            <a:off x="26219330" y="7183931"/>
            <a:ext cx="8826140" cy="1296040"/>
          </a:xfrm>
          <a:prstGeom prst="roundRect">
            <a:avLst/>
          </a:prstGeom>
          <a:solidFill>
            <a:srgbClr val="F9E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(3) Function Made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10F6390-2B47-79A2-3BF7-8467B8FED1B5}"/>
              </a:ext>
            </a:extLst>
          </p:cNvPr>
          <p:cNvSpPr/>
          <p:nvPr/>
        </p:nvSpPr>
        <p:spPr>
          <a:xfrm>
            <a:off x="26670000" y="23088600"/>
            <a:ext cx="7924800" cy="1296040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Deployed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D46BBD1-38CB-19B8-67F2-EECC9C57D83F}"/>
              </a:ext>
            </a:extLst>
          </p:cNvPr>
          <p:cNvSpPr/>
          <p:nvPr/>
        </p:nvSpPr>
        <p:spPr>
          <a:xfrm>
            <a:off x="26219330" y="9774326"/>
            <a:ext cx="8826140" cy="5465674"/>
          </a:xfrm>
          <a:prstGeom prst="roundRect">
            <a:avLst>
              <a:gd name="adj" fmla="val 4717"/>
            </a:avLst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(4) Checked by Python, using:</a:t>
            </a:r>
          </a:p>
          <a:p>
            <a:pPr marL="1306513" indent="-739775"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items given in BRD</a:t>
            </a:r>
          </a:p>
          <a:p>
            <a:pPr marL="1371600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 LLM can make a function just to pass the test items in BRD)</a:t>
            </a:r>
          </a:p>
          <a:p>
            <a:pPr marL="1309688" indent="-742950">
              <a:buFont typeface="+mj-lt"/>
              <a:buAutoNum type="arabicPeriod" startAt="2"/>
            </a:pPr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Real-job items in database</a:t>
            </a:r>
          </a:p>
          <a:p>
            <a:pPr marL="1371600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(These are “surprise” test to the function)</a:t>
            </a:r>
          </a:p>
          <a:p>
            <a:pPr marL="1371600"/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66738"/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Output format and results are all checked.</a:t>
            </a: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7E25A6-E691-ED4C-E64E-E7800C62A763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>
            <a:off x="12718870" y="4546434"/>
            <a:ext cx="0" cy="68452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3257FAC-DC7E-EDC3-3650-1B43562BAE6C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12718870" y="6526994"/>
            <a:ext cx="0" cy="7069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6E0FC90-AA0E-84ED-D3F2-3480FAC32EBA}"/>
              </a:ext>
            </a:extLst>
          </p:cNvPr>
          <p:cNvSpPr txBox="1"/>
          <p:nvPr/>
        </p:nvSpPr>
        <p:spPr>
          <a:xfrm>
            <a:off x="9067800" y="1528274"/>
            <a:ext cx="7162800" cy="1458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Ordinary Agentic AI</a:t>
            </a:r>
            <a:endParaRPr lang="en-US" sz="6600" b="1" dirty="0">
              <a:solidFill>
                <a:srgbClr val="CC00FF"/>
              </a:solidFill>
              <a:latin typeface="Calibri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7FA9C3-9637-66BE-086D-F7A4376AC51E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>
            <a:off x="12718870" y="8529965"/>
            <a:ext cx="0" cy="94525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F562191-5A15-AAF3-AC4E-64DF1ECA5DE8}"/>
              </a:ext>
            </a:extLst>
          </p:cNvPr>
          <p:cNvSpPr/>
          <p:nvPr/>
        </p:nvSpPr>
        <p:spPr>
          <a:xfrm>
            <a:off x="8305800" y="3250394"/>
            <a:ext cx="8826140" cy="12960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 Prompt for LLM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E12C139-A91D-948E-B3F7-BC68CAF05F88}"/>
              </a:ext>
            </a:extLst>
          </p:cNvPr>
          <p:cNvSpPr/>
          <p:nvPr/>
        </p:nvSpPr>
        <p:spPr>
          <a:xfrm>
            <a:off x="8305800" y="5230954"/>
            <a:ext cx="8826140" cy="129604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 LLM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45D1C2C-E87C-1965-852A-C3AB585B9D5C}"/>
              </a:ext>
            </a:extLst>
          </p:cNvPr>
          <p:cNvSpPr/>
          <p:nvPr/>
        </p:nvSpPr>
        <p:spPr>
          <a:xfrm>
            <a:off x="8305800" y="7233925"/>
            <a:ext cx="8826140" cy="1296040"/>
          </a:xfrm>
          <a:prstGeom prst="roundRect">
            <a:avLst/>
          </a:prstGeom>
          <a:solidFill>
            <a:srgbClr val="F9E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(3) Function Made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99ED8BA-F7BD-6839-6A5A-3EA479581A5A}"/>
              </a:ext>
            </a:extLst>
          </p:cNvPr>
          <p:cNvSpPr/>
          <p:nvPr/>
        </p:nvSpPr>
        <p:spPr>
          <a:xfrm>
            <a:off x="8756470" y="23138594"/>
            <a:ext cx="7924800" cy="1296040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Deployed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5D1FD75-9C2F-61FB-52BA-D998BA121B7A}"/>
              </a:ext>
            </a:extLst>
          </p:cNvPr>
          <p:cNvSpPr/>
          <p:nvPr/>
        </p:nvSpPr>
        <p:spPr>
          <a:xfrm>
            <a:off x="26219330" y="17982560"/>
            <a:ext cx="8826140" cy="12960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(5) Human Inspection</a:t>
            </a:r>
            <a:endParaRPr lang="en-US" sz="3600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C1B57FF-34FC-6341-4EE1-304D687D03A8}"/>
              </a:ext>
            </a:extLst>
          </p:cNvPr>
          <p:cNvSpPr/>
          <p:nvPr/>
        </p:nvSpPr>
        <p:spPr>
          <a:xfrm>
            <a:off x="8305800" y="17982560"/>
            <a:ext cx="8826140" cy="12960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(4) Human Inspection</a:t>
            </a:r>
            <a:endParaRPr lang="en-US" sz="3600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47DA0C7-4A91-4226-1FAC-09B9045785BE}"/>
              </a:ext>
            </a:extLst>
          </p:cNvPr>
          <p:cNvCxnSpPr>
            <a:cxnSpLocks/>
            <a:stCxn id="53" idx="2"/>
            <a:endCxn id="51" idx="0"/>
          </p:cNvCxnSpPr>
          <p:nvPr/>
        </p:nvCxnSpPr>
        <p:spPr>
          <a:xfrm>
            <a:off x="12718870" y="19278600"/>
            <a:ext cx="0" cy="38599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2F6FAEB-7429-940C-E6A9-991795D1E2DF}"/>
              </a:ext>
            </a:extLst>
          </p:cNvPr>
          <p:cNvCxnSpPr>
            <a:cxnSpLocks/>
            <a:stCxn id="43" idx="2"/>
            <a:endCxn id="52" idx="0"/>
          </p:cNvCxnSpPr>
          <p:nvPr/>
        </p:nvCxnSpPr>
        <p:spPr>
          <a:xfrm>
            <a:off x="30632400" y="15240000"/>
            <a:ext cx="0" cy="27425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887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E5193BB-700A-E8A8-EF8E-E43342830A59}"/>
              </a:ext>
            </a:extLst>
          </p:cNvPr>
          <p:cNvSpPr/>
          <p:nvPr/>
        </p:nvSpPr>
        <p:spPr>
          <a:xfrm>
            <a:off x="0" y="0"/>
            <a:ext cx="43886520" cy="1299600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1143000" marR="0" lvl="0" indent="-1143000" algn="ctr" defTabSz="2194506" eaLnBrk="1" fontAlgn="auto" latinLnBrk="0" hangingPunct="1">
              <a:lnSpc>
                <a:spcPct val="100000"/>
              </a:lnSpc>
              <a:spcBef>
                <a:spcPts val="1621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100" b="1" i="0" u="none" strike="noStrike" kern="0" cap="none" spc="-1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DejaVu Sans"/>
                <a:cs typeface="+mn-cs"/>
              </a:rPr>
              <a:t>BRD Structure </a:t>
            </a:r>
            <a:endParaRPr kumimoji="0" lang="en-US" sz="8100" b="0" i="0" u="none" strike="noStrike" kern="0" cap="none" spc="-1" normalizeH="0" baseline="0" noProof="0" dirty="0">
              <a:ln>
                <a:noFill/>
              </a:ln>
              <a:solidFill>
                <a:srgbClr val="4F57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00A053-9F68-651A-616F-86BFD6D5AA65}"/>
              </a:ext>
            </a:extLst>
          </p:cNvPr>
          <p:cNvSpPr/>
          <p:nvPr/>
        </p:nvSpPr>
        <p:spPr>
          <a:xfrm>
            <a:off x="4739640" y="7197444"/>
            <a:ext cx="11795760" cy="10633356"/>
          </a:xfrm>
          <a:prstGeom prst="roundRect">
            <a:avLst>
              <a:gd name="adj" fmla="val 0"/>
            </a:avLst>
          </a:prstGeom>
          <a:solidFill>
            <a:srgbClr val="FFFFE5"/>
          </a:solidFill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Word-Counting Capability - Business Requirement Document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========================================================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1. PURPOSE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system must tell us how many words appear in any text fragment that 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customer, analyst, or downstream process provides.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2. BUSINESS VALUE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Enables accurate analytics on user-generated content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Feeds KPI dashboards that monitor engagement and text volume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Reduces manual counting errors when cleaning or auditing data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3. SCOPE &amp; RULES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A "word" is any cluster of letters, digits, or apostrophes surrounded by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spaces or punctuation.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Hyphenated phrases are treated as separate words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(e.g. "well-known" counts as two).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Ignore extra spaces at the beginning or end of the text.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Multiple spaces in a row still separate words only once.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The solution must rely solely on standard, broadly-available technology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(no paid third-party libraries).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BAA05-4F48-56BC-80AC-F16B57A08C13}"/>
              </a:ext>
            </a:extLst>
          </p:cNvPr>
          <p:cNvSpPr txBox="1"/>
          <p:nvPr/>
        </p:nvSpPr>
        <p:spPr>
          <a:xfrm>
            <a:off x="4739640" y="6112602"/>
            <a:ext cx="7833360" cy="101566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6000" b="1" dirty="0">
                <a:solidFill>
                  <a:srgbClr val="CC00FF"/>
                </a:solidFill>
                <a:latin typeface="Arial"/>
              </a:rPr>
              <a:t>BRD_word_count</a:t>
            </a:r>
            <a:r>
              <a:rPr lang="en-US" sz="6000" b="1" dirty="0">
                <a:solidFill>
                  <a:prstClr val="black">
                    <a:lumMod val="50000"/>
                  </a:prstClr>
                </a:solidFill>
                <a:latin typeface="Arial"/>
              </a:rPr>
              <a:t>.txt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6AD41E-1846-8880-A648-92D53F3FFC7D}"/>
              </a:ext>
            </a:extLst>
          </p:cNvPr>
          <p:cNvSpPr/>
          <p:nvPr/>
        </p:nvSpPr>
        <p:spPr>
          <a:xfrm>
            <a:off x="19484340" y="4301844"/>
            <a:ext cx="12573000" cy="20142160"/>
          </a:xfrm>
          <a:prstGeom prst="roundRect">
            <a:avLst>
              <a:gd name="adj" fmla="val 0"/>
            </a:avLst>
          </a:prstGeom>
          <a:solidFill>
            <a:srgbClr val="FFFFE5"/>
          </a:solidFill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• 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4.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 INPUT/OUTPUT CONTRACT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---------------------------------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following JSON object is authoritative for the Python inspector.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Python must parse it directly; neither the generator LLM nor Python may reinterpret or invent fields, types, or output structure.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"input": [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"name": "text",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"type": "string"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],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"output":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"type": "integer"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5.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 EXAMPLES &amp; EXPECTED RESULTS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-----------------------------------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following JSON array is authoritative. Python must parse and execute these tests directly. The code-generating LLM must not invent tests or expected outputs.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"input": "",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"output": 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"input": "Hello world",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"output": 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"input": "The quick brown fox",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"output": 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"input": "  This  --  has   weird   spacing 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"output": 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########################## TECHNICAL DESCRIPTIONS ##########################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6.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JOBS DATA STRUCTURE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----------------------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structure of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jobs.json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looks like this: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incident_id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"A1",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"text": "Hello world",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"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expected_word_count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ID_FIELD=incident_id
EXPECTED_FIELD=expected_word_count
N_ITEMS_TO_PASS=15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data-part of the input for the function should be "text".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expected output field in each job record is "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expected_word_count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function should handle only one job.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34CBCE-2AC8-6FAF-465E-4696CD1E7451}"/>
              </a:ext>
            </a:extLst>
          </p:cNvPr>
          <p:cNvSpPr/>
          <p:nvPr/>
        </p:nvSpPr>
        <p:spPr>
          <a:xfrm>
            <a:off x="4724400" y="1828801"/>
            <a:ext cx="27432000" cy="1770962"/>
          </a:xfrm>
          <a:prstGeom prst="roundRect">
            <a:avLst/>
          </a:prstGeom>
          <a:solidFill>
            <a:srgbClr val="006297">
              <a:lumMod val="75000"/>
            </a:srgbClr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LLM reads everything in a BRD to make a function.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highlighted parts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below are parsed by Python: they must follow a rigid structure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50AB2B-A563-B4C1-262E-6E158ABA4044}"/>
              </a:ext>
            </a:extLst>
          </p:cNvPr>
          <p:cNvSpPr/>
          <p:nvPr/>
        </p:nvSpPr>
        <p:spPr>
          <a:xfrm>
            <a:off x="32461199" y="4911444"/>
            <a:ext cx="10398370" cy="2514600"/>
          </a:xfrm>
          <a:prstGeom prst="roundRect">
            <a:avLst/>
          </a:prstGeom>
          <a:solidFill>
            <a:srgbClr val="479038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 INPUT/OUTPUT CONTRACT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section must contain these exact title words; capitalization does not matter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followed by a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json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including “input” and “output”.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78FF6B-3A59-F741-67EC-6DCE89732104}"/>
              </a:ext>
            </a:extLst>
          </p:cNvPr>
          <p:cNvSpPr/>
          <p:nvPr/>
        </p:nvSpPr>
        <p:spPr>
          <a:xfrm>
            <a:off x="32613599" y="10550244"/>
            <a:ext cx="10398370" cy="2514600"/>
          </a:xfrm>
          <a:prstGeom prst="roundRect">
            <a:avLst/>
          </a:prstGeom>
          <a:solidFill>
            <a:srgbClr val="479038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TEST EXAMPLES &amp; EXPECTED RESULTS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This section must contain these exact title words; capitalization does not matter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followed by a list of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jsons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3E6FC83-AFC4-A88E-081F-C433B126BECD}"/>
              </a:ext>
            </a:extLst>
          </p:cNvPr>
          <p:cNvSpPr/>
          <p:nvPr/>
        </p:nvSpPr>
        <p:spPr>
          <a:xfrm rot="5400000">
            <a:off x="8313420" y="1727355"/>
            <a:ext cx="685800" cy="7833359"/>
          </a:xfrm>
          <a:prstGeom prst="leftBrace">
            <a:avLst>
              <a:gd name="adj1" fmla="val 93905"/>
              <a:gd name="adj2" fmla="val 50000"/>
            </a:avLst>
          </a:prstGeom>
          <a:noFill/>
          <a:ln w="57150" cap="sq" cmpd="sng" algn="ctr">
            <a:solidFill>
              <a:srgbClr val="006297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0" i="0" u="none" strike="noStrike" kern="0" cap="none" spc="0" normalizeH="0" baseline="0" noProof="0">
              <a:ln>
                <a:noFill/>
              </a:ln>
              <a:solidFill>
                <a:srgbClr val="4F57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ADD72C-49FA-A304-2C0A-F8248F6515A1}"/>
              </a:ext>
            </a:extLst>
          </p:cNvPr>
          <p:cNvSpPr txBox="1"/>
          <p:nvPr/>
        </p:nvSpPr>
        <p:spPr>
          <a:xfrm>
            <a:off x="7010400" y="4114800"/>
            <a:ext cx="4663441" cy="1003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4400" dirty="0">
                <a:solidFill>
                  <a:srgbClr val="4F5759"/>
                </a:solidFill>
                <a:latin typeface="Calibri"/>
              </a:rPr>
              <a:t>BRD_name.txt</a:t>
            </a:r>
            <a:endParaRPr lang="en-US" sz="3600" dirty="0">
              <a:solidFill>
                <a:srgbClr val="4F5759"/>
              </a:solidFill>
              <a:latin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8444DA-0628-9D6C-C18E-B6F419778C8D}"/>
              </a:ext>
            </a:extLst>
          </p:cNvPr>
          <p:cNvSpPr/>
          <p:nvPr/>
        </p:nvSpPr>
        <p:spPr>
          <a:xfrm>
            <a:off x="32578430" y="18627444"/>
            <a:ext cx="10398370" cy="5410200"/>
          </a:xfrm>
          <a:prstGeom prst="roundRect">
            <a:avLst/>
          </a:prstGeom>
          <a:solidFill>
            <a:srgbClr val="479038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JOBS DATA STRUCTURE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This section must contain these exact title words; capitalization does not matter 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followed by a list of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jsons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Also there should be a standalone line containing: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ID_FIELD=incident_id
EXPECTED_FIELD=expected_word_count
N_ITEMS_TO_PASS=15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number can vary. This number is used to find and do N real job item tests for the generated function to pass.</a:t>
            </a:r>
          </a:p>
        </p:txBody>
      </p:sp>
    </p:spTree>
    <p:extLst>
      <p:ext uri="{BB962C8B-B14F-4D97-AF65-F5344CB8AC3E}">
        <p14:creationId xmlns:p14="http://schemas.microsoft.com/office/powerpoint/2010/main" val="139879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0D8DAE4-7255-A91A-A78C-CC354DB63491}"/>
              </a:ext>
            </a:extLst>
          </p:cNvPr>
          <p:cNvSpPr/>
          <p:nvPr/>
        </p:nvSpPr>
        <p:spPr>
          <a:xfrm>
            <a:off x="0" y="0"/>
            <a:ext cx="43886520" cy="1299600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1143000" marR="0" lvl="0" indent="-1143000" algn="ctr" defTabSz="2194506" eaLnBrk="1" fontAlgn="auto" latinLnBrk="0" hangingPunct="1">
              <a:lnSpc>
                <a:spcPct val="100000"/>
              </a:lnSpc>
              <a:spcBef>
                <a:spcPts val="1621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0" b="1" i="0" u="none" strike="noStrike" kern="0" cap="none" spc="-1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DejaVu Sans"/>
                <a:cs typeface="+mn-cs"/>
              </a:rPr>
              <a:t>BRD-Module Development Journey</a:t>
            </a:r>
            <a:endParaRPr kumimoji="0" lang="en-US" sz="8000" b="0" i="0" u="none" strike="noStrike" kern="0" cap="none" spc="-1" normalizeH="0" baseline="0" noProof="0" dirty="0">
              <a:ln>
                <a:noFill/>
              </a:ln>
              <a:solidFill>
                <a:srgbClr val="4F57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lowchart: Process 18">
            <a:extLst>
              <a:ext uri="{FF2B5EF4-FFF2-40B4-BE49-F238E27FC236}">
                <a16:creationId xmlns:a16="http://schemas.microsoft.com/office/drawing/2014/main" id="{F3EC2620-756A-ABF8-9135-A92A4F8DF542}"/>
              </a:ext>
            </a:extLst>
          </p:cNvPr>
          <p:cNvSpPr/>
          <p:nvPr/>
        </p:nvSpPr>
        <p:spPr>
          <a:xfrm>
            <a:off x="22496494" y="9108391"/>
            <a:ext cx="7292672" cy="2977348"/>
          </a:xfrm>
          <a:prstGeom prst="flowChartProcess">
            <a:avLst/>
          </a:prstGeom>
          <a:gradFill rotWithShape="0">
            <a:gsLst>
              <a:gs pos="0">
                <a:srgbClr val="E7FFFF"/>
              </a:gs>
              <a:gs pos="100000">
                <a:srgbClr val="93CDDD"/>
              </a:gs>
            </a:gsLst>
            <a:lin ang="5400000"/>
          </a:gradFill>
          <a:ln w="57150" cap="sq" cmpd="sng" algn="ctr">
            <a:solidFill>
              <a:srgbClr val="0066FF"/>
            </a:solidFill>
            <a:prstDash val="solid"/>
            <a:round/>
          </a:ln>
          <a:effectLst>
            <a:outerShdw blurRad="152280" dist="37674" dir="2700000" sx="101000" sy="101000" algn="tl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0" marR="0" lvl="0" indent="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[IT team] Provides:</a:t>
            </a:r>
          </a:p>
          <a:p>
            <a:pPr marL="1146175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Data Schema, </a:t>
            </a:r>
          </a:p>
          <a:p>
            <a:pPr marL="1146175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May provide data-samples from database</a:t>
            </a:r>
          </a:p>
          <a:p>
            <a:pPr marL="1146175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LLM Tools</a:t>
            </a:r>
          </a:p>
          <a:p>
            <a:pPr marL="1146175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Technical specifications</a:t>
            </a:r>
          </a:p>
        </p:txBody>
      </p:sp>
      <p:grpSp>
        <p:nvGrpSpPr>
          <p:cNvPr id="4" name="Group 211">
            <a:extLst>
              <a:ext uri="{FF2B5EF4-FFF2-40B4-BE49-F238E27FC236}">
                <a16:creationId xmlns:a16="http://schemas.microsoft.com/office/drawing/2014/main" id="{E62F86DD-0386-308A-D212-1A5A2F3D03CE}"/>
              </a:ext>
            </a:extLst>
          </p:cNvPr>
          <p:cNvGrpSpPr/>
          <p:nvPr/>
        </p:nvGrpSpPr>
        <p:grpSpPr>
          <a:xfrm>
            <a:off x="17804506" y="13183269"/>
            <a:ext cx="8338326" cy="1915588"/>
            <a:chOff x="17577492" y="16385759"/>
            <a:chExt cx="12418298" cy="2305212"/>
          </a:xfrm>
        </p:grpSpPr>
        <p:grpSp>
          <p:nvGrpSpPr>
            <p:cNvPr id="5" name="Group 152">
              <a:extLst>
                <a:ext uri="{FF2B5EF4-FFF2-40B4-BE49-F238E27FC236}">
                  <a16:creationId xmlns:a16="http://schemas.microsoft.com/office/drawing/2014/main" id="{218AFAD5-3228-6CC8-995F-ADF95CC8F8A5}"/>
                </a:ext>
              </a:extLst>
            </p:cNvPr>
            <p:cNvGrpSpPr/>
            <p:nvPr/>
          </p:nvGrpSpPr>
          <p:grpSpPr>
            <a:xfrm>
              <a:off x="17577492" y="16385759"/>
              <a:ext cx="12418298" cy="2040972"/>
              <a:chOff x="17577492" y="16385759"/>
              <a:chExt cx="12418298" cy="2040972"/>
            </a:xfrm>
          </p:grpSpPr>
          <p:sp>
            <p:nvSpPr>
              <p:cNvPr id="9" name="Flowchart: Process 26">
                <a:extLst>
                  <a:ext uri="{FF2B5EF4-FFF2-40B4-BE49-F238E27FC236}">
                    <a16:creationId xmlns:a16="http://schemas.microsoft.com/office/drawing/2014/main" id="{EDF7F829-1C1E-C05C-BDD1-C4F18C95F4C4}"/>
                  </a:ext>
                </a:extLst>
              </p:cNvPr>
              <p:cNvSpPr/>
              <p:nvPr/>
            </p:nvSpPr>
            <p:spPr>
              <a:xfrm>
                <a:off x="17577492" y="16385759"/>
                <a:ext cx="12418298" cy="1712591"/>
              </a:xfrm>
              <a:prstGeom prst="flowChartProcess">
                <a:avLst/>
              </a:prstGeom>
              <a:solidFill>
                <a:srgbClr val="FFFF99"/>
              </a:solidFill>
              <a:ln w="57150" cap="sq" cmpd="sng" algn="ctr">
                <a:solidFill>
                  <a:srgbClr val="F08A00">
                    <a:lumMod val="50000"/>
                  </a:srgbClr>
                </a:solidFill>
                <a:prstDash val="solid"/>
                <a:round/>
              </a:ln>
              <a:effectLst>
                <a:outerShdw blurRad="152280" dist="37674" dir="2700000" sx="101000" sy="101000" algn="tl" rotWithShape="0">
                  <a:srgbClr val="000000">
                    <a:alpha val="40000"/>
                  </a:srgbClr>
                </a:out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[LLM] Does:</a:t>
                </a:r>
              </a:p>
              <a:p>
                <a:pPr marL="514350" marR="0" lvl="0" indent="-51435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US" sz="32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function Generation</a:t>
                </a:r>
              </a:p>
            </p:txBody>
          </p:sp>
          <p:sp>
            <p:nvSpPr>
              <p:cNvPr id="10" name="TextBox 151">
                <a:extLst>
                  <a:ext uri="{FF2B5EF4-FFF2-40B4-BE49-F238E27FC236}">
                    <a16:creationId xmlns:a16="http://schemas.microsoft.com/office/drawing/2014/main" id="{B613995F-688D-86B8-CA2B-D45CBDC21D40}"/>
                  </a:ext>
                </a:extLst>
              </p:cNvPr>
              <p:cNvSpPr/>
              <p:nvPr/>
            </p:nvSpPr>
            <p:spPr>
              <a:xfrm>
                <a:off x="18384840" y="17966520"/>
                <a:ext cx="1447201" cy="460211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txBody>
              <a:bodyPr lIns="90000" tIns="45000" rIns="90000" bIns="45000" anchor="t">
                <a:spAutoFit/>
              </a:bodyPr>
              <a:lstStyle/>
              <a:p>
                <a:pPr marL="0" marR="0" lvl="0" indent="0" algn="ctr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DejaVu Sans"/>
                    <a:cs typeface="+mn-cs"/>
                  </a:rPr>
                  <a:t>  </a:t>
                </a:r>
                <a:endPara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188">
              <a:extLst>
                <a:ext uri="{FF2B5EF4-FFF2-40B4-BE49-F238E27FC236}">
                  <a16:creationId xmlns:a16="http://schemas.microsoft.com/office/drawing/2014/main" id="{FD95D7D5-A1C1-A86E-12B1-B7A06EB9FC06}"/>
                </a:ext>
              </a:extLst>
            </p:cNvPr>
            <p:cNvSpPr/>
            <p:nvPr/>
          </p:nvSpPr>
          <p:spPr>
            <a:xfrm>
              <a:off x="20258999" y="1823076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TextBox 189">
              <a:extLst>
                <a:ext uri="{FF2B5EF4-FFF2-40B4-BE49-F238E27FC236}">
                  <a16:creationId xmlns:a16="http://schemas.microsoft.com/office/drawing/2014/main" id="{21AAA763-BA1E-AD4F-99AE-5FFB02AE48CF}"/>
                </a:ext>
              </a:extLst>
            </p:cNvPr>
            <p:cNvSpPr/>
            <p:nvPr/>
          </p:nvSpPr>
          <p:spPr>
            <a:xfrm>
              <a:off x="26415000" y="1822860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Box 209">
              <a:extLst>
                <a:ext uri="{FF2B5EF4-FFF2-40B4-BE49-F238E27FC236}">
                  <a16:creationId xmlns:a16="http://schemas.microsoft.com/office/drawing/2014/main" id="{A4D1A662-A7C8-9050-33C3-D6943FE1D0C9}"/>
                </a:ext>
              </a:extLst>
            </p:cNvPr>
            <p:cNvSpPr/>
            <p:nvPr/>
          </p:nvSpPr>
          <p:spPr>
            <a:xfrm>
              <a:off x="28058400" y="1676952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1" name="Group 244">
            <a:extLst>
              <a:ext uri="{FF2B5EF4-FFF2-40B4-BE49-F238E27FC236}">
                <a16:creationId xmlns:a16="http://schemas.microsoft.com/office/drawing/2014/main" id="{10741F49-1DD9-2DF7-0AFB-58DC962251AF}"/>
              </a:ext>
            </a:extLst>
          </p:cNvPr>
          <p:cNvGrpSpPr/>
          <p:nvPr/>
        </p:nvGrpSpPr>
        <p:grpSpPr>
          <a:xfrm>
            <a:off x="17297601" y="17857876"/>
            <a:ext cx="9352131" cy="1192426"/>
            <a:chOff x="18319320" y="19628639"/>
            <a:chExt cx="4980960" cy="1434961"/>
          </a:xfrm>
        </p:grpSpPr>
        <p:sp>
          <p:nvSpPr>
            <p:cNvPr id="12" name="Flowchart: Decision 179">
              <a:extLst>
                <a:ext uri="{FF2B5EF4-FFF2-40B4-BE49-F238E27FC236}">
                  <a16:creationId xmlns:a16="http://schemas.microsoft.com/office/drawing/2014/main" id="{24198D07-ED73-B33E-6C32-4BE57A083E2D}"/>
                </a:ext>
              </a:extLst>
            </p:cNvPr>
            <p:cNvSpPr/>
            <p:nvPr/>
          </p:nvSpPr>
          <p:spPr>
            <a:xfrm>
              <a:off x="18319320" y="19729080"/>
              <a:ext cx="4980960" cy="1334520"/>
            </a:xfrm>
            <a:prstGeom prst="flowChartDecision">
              <a:avLst/>
            </a:prstGeom>
            <a:solidFill>
              <a:srgbClr val="FFFFFF"/>
            </a:solidFill>
            <a:ln w="73025" cap="sq" cmpd="sng" algn="ctr">
              <a:solidFill>
                <a:srgbClr val="000000"/>
              </a:solidFill>
              <a:prstDash val="solid"/>
              <a:round/>
            </a:ln>
            <a:effectLst/>
          </p:spPr>
          <p:txBody>
            <a:bodyPr lIns="90000" tIns="45000" rIns="90000" bIns="45000" anchor="ctr">
              <a:no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Function passes tests?</a:t>
              </a:r>
            </a:p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(All correct &amp; Bug free)?</a:t>
              </a:r>
              <a:endParaRPr kumimoji="0" lang="en-US" sz="2800" b="0" i="0" u="none" strike="noStrike" kern="0" cap="none" spc="-1" normalizeH="0" baseline="0" noProof="0" dirty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TextBox 242">
              <a:extLst>
                <a:ext uri="{FF2B5EF4-FFF2-40B4-BE49-F238E27FC236}">
                  <a16:creationId xmlns:a16="http://schemas.microsoft.com/office/drawing/2014/main" id="{D4FEAC5E-AE54-B560-ACE7-E6AE2FF165E2}"/>
                </a:ext>
              </a:extLst>
            </p:cNvPr>
            <p:cNvSpPr/>
            <p:nvPr/>
          </p:nvSpPr>
          <p:spPr>
            <a:xfrm rot="16050600">
              <a:off x="19271520" y="20081833"/>
              <a:ext cx="1102320" cy="195932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18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813541-CF3B-49F3-3315-A1216C5071ED}"/>
              </a:ext>
            </a:extLst>
          </p:cNvPr>
          <p:cNvCxnSpPr>
            <a:cxnSpLocks/>
            <a:stCxn id="27" idx="2"/>
            <a:endCxn id="16" idx="0"/>
          </p:cNvCxnSpPr>
          <p:nvPr/>
        </p:nvCxnSpPr>
        <p:spPr>
          <a:xfrm flipH="1">
            <a:off x="21973667" y="6344969"/>
            <a:ext cx="1" cy="1608032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sp>
        <p:nvSpPr>
          <p:cNvPr id="15" name="Flowchart: Process 18">
            <a:extLst>
              <a:ext uri="{FF2B5EF4-FFF2-40B4-BE49-F238E27FC236}">
                <a16:creationId xmlns:a16="http://schemas.microsoft.com/office/drawing/2014/main" id="{9CC5270D-B6AC-53F4-EC22-697C67968C69}"/>
              </a:ext>
            </a:extLst>
          </p:cNvPr>
          <p:cNvSpPr/>
          <p:nvPr/>
        </p:nvSpPr>
        <p:spPr>
          <a:xfrm>
            <a:off x="14240053" y="9108391"/>
            <a:ext cx="7053193" cy="2977348"/>
          </a:xfrm>
          <a:prstGeom prst="flowChartProcess">
            <a:avLst/>
          </a:prstGeom>
          <a:solidFill>
            <a:srgbClr val="F9E1FF"/>
          </a:solidFill>
          <a:ln w="57150" cap="sq" cmpd="sng" algn="ctr">
            <a:solidFill>
              <a:srgbClr val="4F5759">
                <a:lumMod val="50000"/>
              </a:srgbClr>
            </a:solidFill>
            <a:prstDash val="solid"/>
            <a:round/>
          </a:ln>
          <a:effectLst>
            <a:outerShdw blurRad="152280" dist="37674" dir="2700000" sx="101000" sy="101000" algn="tl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0" marR="0" lvl="0" indent="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[Business Analysts] Provide: </a:t>
            </a:r>
          </a:p>
          <a:p>
            <a:pPr marL="914400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BRD Logic</a:t>
            </a:r>
          </a:p>
          <a:p>
            <a:pPr marL="914400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Test examples (covering all scenarios)</a:t>
            </a:r>
          </a:p>
          <a:p>
            <a:pPr marL="914400" marR="0" lvl="0" indent="-406400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May run internal simulation of GPT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69D2F9-B3CA-9505-C4E0-CA0292AF4E53}"/>
              </a:ext>
            </a:extLst>
          </p:cNvPr>
          <p:cNvSpPr/>
          <p:nvPr/>
        </p:nvSpPr>
        <p:spPr>
          <a:xfrm>
            <a:off x="13342719" y="7953001"/>
            <a:ext cx="17261896" cy="9486023"/>
          </a:xfrm>
          <a:prstGeom prst="roundRect">
            <a:avLst>
              <a:gd name="adj" fmla="val 3647"/>
            </a:avLst>
          </a:prstGeom>
          <a:noFill/>
          <a:ln w="57150" cap="sq" cmpd="sng" algn="ctr">
            <a:solidFill>
              <a:srgbClr val="0000FF"/>
            </a:solidFill>
            <a:prstDash val="dash"/>
          </a:ln>
          <a:effectLst/>
        </p:spPr>
        <p:txBody>
          <a:bodyPr rtlCol="0" anchor="t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  <a:cs typeface="+mn-cs"/>
              </a:rPr>
              <a:t>Jointly Develop BRDs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BCF472-2287-23CF-2732-B63387239AF4}"/>
              </a:ext>
            </a:extLst>
          </p:cNvPr>
          <p:cNvCxnSpPr>
            <a:cxnSpLocks/>
            <a:stCxn id="15" idx="3"/>
            <a:endCxn id="3" idx="1"/>
          </p:cNvCxnSpPr>
          <p:nvPr/>
        </p:nvCxnSpPr>
        <p:spPr>
          <a:xfrm>
            <a:off x="21293247" y="10597065"/>
            <a:ext cx="1203247" cy="0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headEnd type="triangle" w="med" len="med"/>
            <a:tailEnd type="triangle" w="med" len="med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5164D5-8A90-D1E2-BF9A-3183B7C05534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21971562" y="20947538"/>
            <a:ext cx="2105" cy="833806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9" name="Straight Arrow Connector 133">
            <a:extLst>
              <a:ext uri="{FF2B5EF4-FFF2-40B4-BE49-F238E27FC236}">
                <a16:creationId xmlns:a16="http://schemas.microsoft.com/office/drawing/2014/main" id="{C1F56CB0-3F81-9E82-52F5-B28498C410F4}"/>
              </a:ext>
            </a:extLst>
          </p:cNvPr>
          <p:cNvCxnSpPr>
            <a:cxnSpLocks/>
            <a:stCxn id="12" idx="1"/>
            <a:endCxn id="16" idx="1"/>
          </p:cNvCxnSpPr>
          <p:nvPr/>
        </p:nvCxnSpPr>
        <p:spPr>
          <a:xfrm rot="10800000">
            <a:off x="13342719" y="12696014"/>
            <a:ext cx="3954882" cy="5799809"/>
          </a:xfrm>
          <a:prstGeom prst="bentConnector3">
            <a:avLst>
              <a:gd name="adj1" fmla="val 133347"/>
            </a:avLst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98C831-FD4E-E979-EEDF-6EDBC9F246FD}"/>
              </a:ext>
            </a:extLst>
          </p:cNvPr>
          <p:cNvCxnSpPr>
            <a:cxnSpLocks/>
            <a:stCxn id="9" idx="2"/>
            <a:endCxn id="40" idx="0"/>
          </p:cNvCxnSpPr>
          <p:nvPr/>
        </p:nvCxnSpPr>
        <p:spPr>
          <a:xfrm flipH="1">
            <a:off x="21971562" y="14606400"/>
            <a:ext cx="2107" cy="633902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C38A3B4-753C-5F43-0DE0-95FF9FBE181A}"/>
              </a:ext>
            </a:extLst>
          </p:cNvPr>
          <p:cNvSpPr txBox="1"/>
          <p:nvPr/>
        </p:nvSpPr>
        <p:spPr>
          <a:xfrm>
            <a:off x="22005086" y="19153262"/>
            <a:ext cx="685979" cy="43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194506"/>
            <a:r>
              <a:rPr lang="en-US" sz="2800" spc="-1" dirty="0">
                <a:solidFill>
                  <a:srgbClr val="000000"/>
                </a:solidFill>
                <a:latin typeface="Calibri"/>
                <a:ea typeface="Calibri"/>
              </a:rPr>
              <a:t>Yes</a:t>
            </a:r>
            <a:endParaRPr lang="en-US" sz="2800" dirty="0">
              <a:solidFill>
                <a:srgbClr val="4F5759"/>
              </a:solidFill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04AF67-B3E5-F917-F7F8-F5DDA2596544}"/>
              </a:ext>
            </a:extLst>
          </p:cNvPr>
          <p:cNvSpPr txBox="1"/>
          <p:nvPr/>
        </p:nvSpPr>
        <p:spPr>
          <a:xfrm>
            <a:off x="16248601" y="18029732"/>
            <a:ext cx="685979" cy="43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194506"/>
            <a:r>
              <a:rPr lang="en-US" sz="2800" spc="-1" dirty="0">
                <a:solidFill>
                  <a:srgbClr val="000000"/>
                </a:solidFill>
                <a:latin typeface="Calibri"/>
                <a:ea typeface="Calibri"/>
              </a:rPr>
              <a:t>No</a:t>
            </a:r>
            <a:endParaRPr lang="en-US" sz="2800" dirty="0">
              <a:solidFill>
                <a:srgbClr val="4F5759"/>
              </a:solidFill>
              <a:latin typeface="Arial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6A5EFF-323E-9944-8FFE-B73CF1D500AA}"/>
              </a:ext>
            </a:extLst>
          </p:cNvPr>
          <p:cNvGrpSpPr/>
          <p:nvPr/>
        </p:nvGrpSpPr>
        <p:grpSpPr>
          <a:xfrm>
            <a:off x="19468684" y="23425252"/>
            <a:ext cx="5009965" cy="1034948"/>
            <a:chOff x="12799260" y="4495800"/>
            <a:chExt cx="18288000" cy="67645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FC44831-ADBC-FDA6-049A-154F49ACC7A9}"/>
                </a:ext>
              </a:extLst>
            </p:cNvPr>
            <p:cNvSpPr/>
            <p:nvPr/>
          </p:nvSpPr>
          <p:spPr>
            <a:xfrm>
              <a:off x="12799260" y="4495800"/>
              <a:ext cx="18288000" cy="676459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Deployed AI</a:t>
              </a:r>
              <a:endParaRPr kumimoji="0" lang="en-US" sz="4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82DE5BF-9F00-7102-18D3-16E03ADA6B7E}"/>
                </a:ext>
              </a:extLst>
            </p:cNvPr>
            <p:cNvSpPr txBox="1"/>
            <p:nvPr/>
          </p:nvSpPr>
          <p:spPr>
            <a:xfrm>
              <a:off x="16916401" y="4501979"/>
              <a:ext cx="1143003" cy="284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5ED576-0C69-F328-696C-941CBE2B0FFC}"/>
              </a:ext>
            </a:extLst>
          </p:cNvPr>
          <p:cNvGrpSpPr/>
          <p:nvPr/>
        </p:nvGrpSpPr>
        <p:grpSpPr>
          <a:xfrm>
            <a:off x="18346603" y="4955966"/>
            <a:ext cx="7254129" cy="1389003"/>
            <a:chOff x="12799260" y="4495800"/>
            <a:chExt cx="18288000" cy="67645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F5CC66-E9C7-3717-42F9-D391055373FA}"/>
                </a:ext>
              </a:extLst>
            </p:cNvPr>
            <p:cNvSpPr/>
            <p:nvPr/>
          </p:nvSpPr>
          <p:spPr>
            <a:xfrm>
              <a:off x="12799260" y="4495800"/>
              <a:ext cx="18288000" cy="676459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Seed Concept: </a:t>
              </a:r>
            </a:p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Business Stakeholder</a:t>
              </a:r>
              <a:endParaRPr kumimoji="0" lang="en-US" sz="4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B08E503-559E-7420-7F6F-C1D8EA0481FD}"/>
                </a:ext>
              </a:extLst>
            </p:cNvPr>
            <p:cNvSpPr txBox="1"/>
            <p:nvPr/>
          </p:nvSpPr>
          <p:spPr>
            <a:xfrm>
              <a:off x="16916401" y="4501979"/>
              <a:ext cx="1143003" cy="284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CF9677-9906-3630-63AC-5F847DDEF2CE}"/>
              </a:ext>
            </a:extLst>
          </p:cNvPr>
          <p:cNvCxnSpPr>
            <a:cxnSpLocks/>
            <a:stCxn id="15" idx="2"/>
            <a:endCxn id="9" idx="0"/>
          </p:cNvCxnSpPr>
          <p:nvPr/>
        </p:nvCxnSpPr>
        <p:spPr>
          <a:xfrm>
            <a:off x="17766650" y="12085739"/>
            <a:ext cx="4207019" cy="1097530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7D572CE-7511-890F-4014-6B4EDBF893ED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flipH="1">
            <a:off x="21973669" y="12085739"/>
            <a:ext cx="4169161" cy="1097530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1E359B9-EAD0-EAC2-88ED-FBEC2E322105}"/>
              </a:ext>
            </a:extLst>
          </p:cNvPr>
          <p:cNvSpPr/>
          <p:nvPr/>
        </p:nvSpPr>
        <p:spPr>
          <a:xfrm>
            <a:off x="18680986" y="19870553"/>
            <a:ext cx="6585362" cy="1076985"/>
          </a:xfrm>
          <a:prstGeom prst="roundRect">
            <a:avLst/>
          </a:prstGeom>
          <a:solidFill>
            <a:srgbClr val="52CDEF">
              <a:lumMod val="40000"/>
              <a:lumOff val="60000"/>
            </a:srgbClr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Save the “function”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EA204E-4285-FE84-E80B-0DDF3A885A69}"/>
              </a:ext>
            </a:extLst>
          </p:cNvPr>
          <p:cNvCxnSpPr>
            <a:cxnSpLocks/>
            <a:stCxn id="12" idx="2"/>
            <a:endCxn id="31" idx="0"/>
          </p:cNvCxnSpPr>
          <p:nvPr/>
        </p:nvCxnSpPr>
        <p:spPr>
          <a:xfrm>
            <a:off x="21973667" y="19050302"/>
            <a:ext cx="0" cy="820251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901CD8B-0D4F-E7E9-9521-10FDC4FF5531}"/>
              </a:ext>
            </a:extLst>
          </p:cNvPr>
          <p:cNvSpPr/>
          <p:nvPr/>
        </p:nvSpPr>
        <p:spPr>
          <a:xfrm>
            <a:off x="17558492" y="21781344"/>
            <a:ext cx="8826140" cy="773856"/>
          </a:xfrm>
          <a:prstGeom prst="roundRect">
            <a:avLst/>
          </a:prstGeom>
          <a:solidFill>
            <a:srgbClr val="92D050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Human Inspection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4F5759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00CC71-F5BB-BFFC-CF3C-6D2A14C3EF3E}"/>
              </a:ext>
            </a:extLst>
          </p:cNvPr>
          <p:cNvCxnSpPr>
            <a:cxnSpLocks/>
            <a:stCxn id="33" idx="2"/>
            <a:endCxn id="24" idx="0"/>
          </p:cNvCxnSpPr>
          <p:nvPr/>
        </p:nvCxnSpPr>
        <p:spPr>
          <a:xfrm>
            <a:off x="21971562" y="22555200"/>
            <a:ext cx="2105" cy="870052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35" name="Group 211">
            <a:extLst>
              <a:ext uri="{FF2B5EF4-FFF2-40B4-BE49-F238E27FC236}">
                <a16:creationId xmlns:a16="http://schemas.microsoft.com/office/drawing/2014/main" id="{4271C92E-C3B9-CF71-82E0-23659701E968}"/>
              </a:ext>
            </a:extLst>
          </p:cNvPr>
          <p:cNvGrpSpPr/>
          <p:nvPr/>
        </p:nvGrpSpPr>
        <p:grpSpPr>
          <a:xfrm>
            <a:off x="17196924" y="15240302"/>
            <a:ext cx="9549276" cy="1915588"/>
            <a:chOff x="17577492" y="16385759"/>
            <a:chExt cx="12418298" cy="2305212"/>
          </a:xfrm>
        </p:grpSpPr>
        <p:grpSp>
          <p:nvGrpSpPr>
            <p:cNvPr id="36" name="Group 152">
              <a:extLst>
                <a:ext uri="{FF2B5EF4-FFF2-40B4-BE49-F238E27FC236}">
                  <a16:creationId xmlns:a16="http://schemas.microsoft.com/office/drawing/2014/main" id="{61172399-4D2F-03D3-CD85-F9F63A02AC73}"/>
                </a:ext>
              </a:extLst>
            </p:cNvPr>
            <p:cNvGrpSpPr/>
            <p:nvPr/>
          </p:nvGrpSpPr>
          <p:grpSpPr>
            <a:xfrm>
              <a:off x="17577492" y="16385759"/>
              <a:ext cx="12418298" cy="2131264"/>
              <a:chOff x="17577492" y="16385759"/>
              <a:chExt cx="12418298" cy="2131264"/>
            </a:xfrm>
          </p:grpSpPr>
          <p:sp>
            <p:nvSpPr>
              <p:cNvPr id="40" name="Flowchart: Process 26">
                <a:extLst>
                  <a:ext uri="{FF2B5EF4-FFF2-40B4-BE49-F238E27FC236}">
                    <a16:creationId xmlns:a16="http://schemas.microsoft.com/office/drawing/2014/main" id="{72A9A6A6-081D-5C3A-0C17-B8455C96072F}"/>
                  </a:ext>
                </a:extLst>
              </p:cNvPr>
              <p:cNvSpPr/>
              <p:nvPr/>
            </p:nvSpPr>
            <p:spPr>
              <a:xfrm>
                <a:off x="17577492" y="16385759"/>
                <a:ext cx="12418298" cy="2131264"/>
              </a:xfrm>
              <a:prstGeom prst="flowChartProcess">
                <a:avLst/>
              </a:prstGeom>
              <a:solidFill>
                <a:srgbClr val="FFFF99"/>
              </a:solidFill>
              <a:ln w="57150" cap="sq" cmpd="sng" algn="ctr">
                <a:solidFill>
                  <a:srgbClr val="F08A00">
                    <a:lumMod val="50000"/>
                  </a:srgbClr>
                </a:solidFill>
                <a:prstDash val="solid"/>
                <a:round/>
              </a:ln>
              <a:effectLst>
                <a:outerShdw blurRad="152280" dist="37674" dir="2700000" sx="101000" sy="101000" algn="tl" rotWithShape="0">
                  <a:srgbClr val="000000">
                    <a:alpha val="40000"/>
                  </a:srgbClr>
                </a:outerShdw>
              </a:effectLst>
            </p:spPr>
            <p:txBody>
              <a:bodyPr lIns="90000" tIns="45000" rIns="90000" bIns="45000" anchor="ctr">
                <a:noAutofit/>
              </a:bodyPr>
              <a:lstStyle/>
              <a:p>
                <a:pPr marL="0" marR="0" lvl="0" indent="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[Python] Does:</a:t>
                </a:r>
              </a:p>
              <a:p>
                <a:pPr marL="514350" marR="0" lvl="0" indent="-51435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US" sz="32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Run the  function against the “test-examples” in BRD</a:t>
                </a:r>
              </a:p>
              <a:p>
                <a:pPr marL="514350" marR="0" lvl="0" indent="-514350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US" sz="32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+mn-cs"/>
                  </a:rPr>
                  <a:t>Run the function on N jobs in Dev/UAT database</a:t>
                </a:r>
                <a:endParaRPr kumimoji="0" lang="en-US" sz="3200" b="0" i="0" u="none" strike="noStrike" kern="0" cap="none" spc="-1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TextBox 151">
                <a:extLst>
                  <a:ext uri="{FF2B5EF4-FFF2-40B4-BE49-F238E27FC236}">
                    <a16:creationId xmlns:a16="http://schemas.microsoft.com/office/drawing/2014/main" id="{EBCDAF19-3AB2-ACE1-84ED-7A0FBB7EADB3}"/>
                  </a:ext>
                </a:extLst>
              </p:cNvPr>
              <p:cNvSpPr/>
              <p:nvPr/>
            </p:nvSpPr>
            <p:spPr>
              <a:xfrm>
                <a:off x="18384840" y="17966520"/>
                <a:ext cx="1447201" cy="460211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txBody>
              <a:bodyPr lIns="90000" tIns="45000" rIns="90000" bIns="45000" anchor="t">
                <a:spAutoFit/>
              </a:bodyPr>
              <a:lstStyle/>
              <a:p>
                <a:pPr marL="0" marR="0" lvl="0" indent="0" algn="ctr" defTabSz="21945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-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DejaVu Sans"/>
                    <a:cs typeface="+mn-cs"/>
                  </a:rPr>
                  <a:t>  </a:t>
                </a:r>
                <a:endPara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188">
              <a:extLst>
                <a:ext uri="{FF2B5EF4-FFF2-40B4-BE49-F238E27FC236}">
                  <a16:creationId xmlns:a16="http://schemas.microsoft.com/office/drawing/2014/main" id="{275A5AAD-ED40-233E-AF57-01236313D484}"/>
                </a:ext>
              </a:extLst>
            </p:cNvPr>
            <p:cNvSpPr/>
            <p:nvPr/>
          </p:nvSpPr>
          <p:spPr>
            <a:xfrm>
              <a:off x="20258999" y="1823076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TextBox 189">
              <a:extLst>
                <a:ext uri="{FF2B5EF4-FFF2-40B4-BE49-F238E27FC236}">
                  <a16:creationId xmlns:a16="http://schemas.microsoft.com/office/drawing/2014/main" id="{F463E9CB-91A9-E305-EDB4-9B113BF941F9}"/>
                </a:ext>
              </a:extLst>
            </p:cNvPr>
            <p:cNvSpPr/>
            <p:nvPr/>
          </p:nvSpPr>
          <p:spPr>
            <a:xfrm>
              <a:off x="26415000" y="1822860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TextBox 209">
              <a:extLst>
                <a:ext uri="{FF2B5EF4-FFF2-40B4-BE49-F238E27FC236}">
                  <a16:creationId xmlns:a16="http://schemas.microsoft.com/office/drawing/2014/main" id="{C904516E-1DDF-8266-9CFA-6F98E5226D1F}"/>
                </a:ext>
              </a:extLst>
            </p:cNvPr>
            <p:cNvSpPr/>
            <p:nvPr/>
          </p:nvSpPr>
          <p:spPr>
            <a:xfrm>
              <a:off x="28058400" y="16769520"/>
              <a:ext cx="1102319" cy="46021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 anchor="t">
              <a:spAutoFit/>
            </a:bodyPr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-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DejaVu Sans"/>
                  <a:cs typeface="+mn-cs"/>
                </a:rPr>
                <a:t>  </a:t>
              </a:r>
              <a:endParaRPr kumimoji="0" lang="en-US" sz="2400" b="0" i="0" u="none" strike="noStrike" kern="0" cap="none" spc="-1" normalizeH="0" baseline="0" noProof="0">
                <a:ln>
                  <a:noFill/>
                </a:ln>
                <a:solidFill>
                  <a:srgbClr val="4F575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6B4DA7-D00E-3510-ABBB-10BDB5E03051}"/>
              </a:ext>
            </a:extLst>
          </p:cNvPr>
          <p:cNvCxnSpPr>
            <a:cxnSpLocks/>
            <a:stCxn id="40" idx="2"/>
            <a:endCxn id="12" idx="0"/>
          </p:cNvCxnSpPr>
          <p:nvPr/>
        </p:nvCxnSpPr>
        <p:spPr>
          <a:xfrm>
            <a:off x="21971562" y="17011342"/>
            <a:ext cx="2105" cy="929999"/>
          </a:xfrm>
          <a:prstGeom prst="straightConnector1">
            <a:avLst/>
          </a:prstGeom>
          <a:noFill/>
          <a:ln w="57150" cap="sq" cmpd="sng" algn="ctr">
            <a:solidFill>
              <a:srgbClr val="4F5759">
                <a:lumMod val="95000"/>
                <a:lumOff val="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78148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BE67DE-AD7F-CE73-A393-E7EAC1824073}"/>
              </a:ext>
            </a:extLst>
          </p:cNvPr>
          <p:cNvSpPr/>
          <p:nvPr/>
        </p:nvSpPr>
        <p:spPr>
          <a:xfrm>
            <a:off x="27584400" y="3676905"/>
            <a:ext cx="15087600" cy="17221200"/>
          </a:xfrm>
          <a:prstGeom prst="roundRect">
            <a:avLst>
              <a:gd name="adj" fmla="val 5876"/>
            </a:avLst>
          </a:prstGeom>
          <a:solidFill>
            <a:srgbClr val="DDF3FF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2616A60-72B9-B905-1AF2-7B98B21DF594}"/>
              </a:ext>
            </a:extLst>
          </p:cNvPr>
          <p:cNvSpPr/>
          <p:nvPr/>
        </p:nvSpPr>
        <p:spPr>
          <a:xfrm>
            <a:off x="0" y="0"/>
            <a:ext cx="43886520" cy="1299600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1143000" marR="0" lvl="0" indent="-1143000" algn="ctr" defTabSz="2194506" eaLnBrk="1" fontAlgn="auto" latinLnBrk="0" hangingPunct="1">
              <a:lnSpc>
                <a:spcPct val="100000"/>
              </a:lnSpc>
              <a:spcBef>
                <a:spcPts val="1621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100" b="1" i="0" u="none" strike="noStrike" kern="0" cap="none" spc="-1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DejaVu Sans"/>
                <a:cs typeface="+mn-cs"/>
              </a:rPr>
              <a:t>Coordination of BRD Agents</a:t>
            </a:r>
            <a:endParaRPr kumimoji="0" lang="en-US" sz="8100" b="0" i="0" u="none" strike="noStrike" kern="0" cap="none" spc="-1" normalizeH="0" baseline="0" noProof="0" dirty="0">
              <a:ln>
                <a:noFill/>
              </a:ln>
              <a:solidFill>
                <a:srgbClr val="4F57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DACD18D-D425-075E-593C-2D10B3CC3FA9}"/>
              </a:ext>
            </a:extLst>
          </p:cNvPr>
          <p:cNvGrpSpPr/>
          <p:nvPr/>
        </p:nvGrpSpPr>
        <p:grpSpPr>
          <a:xfrm>
            <a:off x="29511400" y="8229600"/>
            <a:ext cx="9823651" cy="10826540"/>
            <a:chOff x="10591800" y="6172200"/>
            <a:chExt cx="19964399" cy="1553615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7C4D26A-8DDD-09FC-7DCB-A8550BFFAC77}"/>
                </a:ext>
              </a:extLst>
            </p:cNvPr>
            <p:cNvSpPr/>
            <p:nvPr/>
          </p:nvSpPr>
          <p:spPr>
            <a:xfrm>
              <a:off x="22631399" y="6172200"/>
              <a:ext cx="7924800" cy="1829440"/>
            </a:xfrm>
            <a:prstGeom prst="roundRect">
              <a:avLst/>
            </a:prstGeom>
            <a:solidFill>
              <a:srgbClr val="F6F3C0"/>
            </a:solidFill>
            <a:ln w="12700" cap="sq" cmpd="sng" algn="ctr">
              <a:solidFill>
                <a:srgbClr val="006297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BRD 1 - Agent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6049209-D4EF-ABBD-AF82-84933106FBB6}"/>
                </a:ext>
              </a:extLst>
            </p:cNvPr>
            <p:cNvSpPr/>
            <p:nvPr/>
          </p:nvSpPr>
          <p:spPr>
            <a:xfrm>
              <a:off x="22609629" y="11146332"/>
              <a:ext cx="7924801" cy="1829440"/>
            </a:xfrm>
            <a:prstGeom prst="roundRect">
              <a:avLst/>
            </a:prstGeom>
            <a:solidFill>
              <a:srgbClr val="F6F3C0"/>
            </a:solidFill>
            <a:ln w="12700" cap="sq" cmpd="sng" algn="ctr">
              <a:solidFill>
                <a:srgbClr val="006297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BRD 2 - Agent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DBEDFC3-AC79-3A99-16C6-B86C0EB26A47}"/>
                </a:ext>
              </a:extLst>
            </p:cNvPr>
            <p:cNvSpPr/>
            <p:nvPr/>
          </p:nvSpPr>
          <p:spPr>
            <a:xfrm>
              <a:off x="22609628" y="16153760"/>
              <a:ext cx="7924800" cy="1829440"/>
            </a:xfrm>
            <a:prstGeom prst="roundRect">
              <a:avLst/>
            </a:prstGeom>
            <a:solidFill>
              <a:srgbClr val="F6F3C0"/>
            </a:solidFill>
            <a:ln w="12700" cap="sq" cmpd="sng" algn="ctr">
              <a:solidFill>
                <a:srgbClr val="006297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BRD 3 - Agent</a:t>
              </a:r>
            </a:p>
          </p:txBody>
        </p:sp>
        <p:cxnSp>
          <p:nvCxnSpPr>
            <p:cNvPr id="8" name="Connector: Elbow 4">
              <a:extLst>
                <a:ext uri="{FF2B5EF4-FFF2-40B4-BE49-F238E27FC236}">
                  <a16:creationId xmlns:a16="http://schemas.microsoft.com/office/drawing/2014/main" id="{04B1EFE5-CE43-86B1-06E5-84A31FBB1C97}"/>
                </a:ext>
              </a:extLst>
            </p:cNvPr>
            <p:cNvCxnSpPr>
              <a:cxnSpLocks/>
              <a:stCxn id="13" idx="4"/>
              <a:endCxn id="5" idx="1"/>
            </p:cNvCxnSpPr>
            <p:nvPr/>
          </p:nvCxnSpPr>
          <p:spPr>
            <a:xfrm flipV="1">
              <a:off x="17921358" y="7086920"/>
              <a:ext cx="4710041" cy="22570"/>
            </a:xfrm>
            <a:prstGeom prst="straightConnector1">
              <a:avLst/>
            </a:prstGeom>
            <a:noFill/>
            <a:ln w="76200" cap="sq" cmpd="sng" algn="ctr">
              <a:solidFill>
                <a:srgbClr val="4F575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9" name="Connector: Elbow 31">
              <a:extLst>
                <a:ext uri="{FF2B5EF4-FFF2-40B4-BE49-F238E27FC236}">
                  <a16:creationId xmlns:a16="http://schemas.microsoft.com/office/drawing/2014/main" id="{15256836-CE92-DBF1-9476-B8956BDB519E}"/>
                </a:ext>
              </a:extLst>
            </p:cNvPr>
            <p:cNvCxnSpPr>
              <a:cxnSpLocks/>
              <a:stCxn id="5" idx="2"/>
              <a:endCxn id="14" idx="1"/>
            </p:cNvCxnSpPr>
            <p:nvPr/>
          </p:nvCxnSpPr>
          <p:spPr>
            <a:xfrm rot="5400000">
              <a:off x="18694680" y="3563538"/>
              <a:ext cx="3461016" cy="12337221"/>
            </a:xfrm>
            <a:prstGeom prst="curvedConnector3">
              <a:avLst/>
            </a:prstGeom>
            <a:noFill/>
            <a:ln w="76200" cap="sq" cmpd="sng" algn="ctr">
              <a:solidFill>
                <a:srgbClr val="006297"/>
              </a:solidFill>
              <a:prstDash val="solid"/>
              <a:tailEnd type="triangle"/>
            </a:ln>
            <a:effectLst/>
          </p:spPr>
        </p:cxnSp>
        <p:cxnSp>
          <p:nvCxnSpPr>
            <p:cNvPr id="10" name="Connector: Elbow 32">
              <a:extLst>
                <a:ext uri="{FF2B5EF4-FFF2-40B4-BE49-F238E27FC236}">
                  <a16:creationId xmlns:a16="http://schemas.microsoft.com/office/drawing/2014/main" id="{1161D0C7-920B-2E96-8188-D114E87279BA}"/>
                </a:ext>
              </a:extLst>
            </p:cNvPr>
            <p:cNvCxnSpPr>
              <a:cxnSpLocks/>
              <a:stCxn id="14" idx="4"/>
              <a:endCxn id="6" idx="1"/>
            </p:cNvCxnSpPr>
            <p:nvPr/>
          </p:nvCxnSpPr>
          <p:spPr>
            <a:xfrm flipV="1">
              <a:off x="17921356" y="12061051"/>
              <a:ext cx="4688272" cy="797"/>
            </a:xfrm>
            <a:prstGeom prst="straightConnector1">
              <a:avLst/>
            </a:prstGeom>
            <a:noFill/>
            <a:ln w="76200" cap="sq" cmpd="sng" algn="ctr">
              <a:solidFill>
                <a:srgbClr val="4F575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1" name="Connector: Elbow 35">
              <a:extLst>
                <a:ext uri="{FF2B5EF4-FFF2-40B4-BE49-F238E27FC236}">
                  <a16:creationId xmlns:a16="http://schemas.microsoft.com/office/drawing/2014/main" id="{072E64E7-61C4-54B0-87EA-7667552C0FB2}"/>
                </a:ext>
              </a:extLst>
            </p:cNvPr>
            <p:cNvCxnSpPr>
              <a:cxnSpLocks/>
              <a:stCxn id="15" idx="4"/>
              <a:endCxn id="7" idx="1"/>
            </p:cNvCxnSpPr>
            <p:nvPr/>
          </p:nvCxnSpPr>
          <p:spPr>
            <a:xfrm>
              <a:off x="17921356" y="17067682"/>
              <a:ext cx="4688272" cy="798"/>
            </a:xfrm>
            <a:prstGeom prst="straightConnector1">
              <a:avLst/>
            </a:prstGeom>
            <a:noFill/>
            <a:ln w="76200" cap="sq" cmpd="sng" algn="ctr">
              <a:solidFill>
                <a:srgbClr val="4F575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2" name="Connector: Elbow 39">
              <a:extLst>
                <a:ext uri="{FF2B5EF4-FFF2-40B4-BE49-F238E27FC236}">
                  <a16:creationId xmlns:a16="http://schemas.microsoft.com/office/drawing/2014/main" id="{ED81B0E9-AA00-109E-1458-C0E0E22B81AC}"/>
                </a:ext>
              </a:extLst>
            </p:cNvPr>
            <p:cNvCxnSpPr>
              <a:cxnSpLocks/>
              <a:stCxn id="6" idx="2"/>
              <a:endCxn id="15" idx="1"/>
            </p:cNvCxnSpPr>
            <p:nvPr/>
          </p:nvCxnSpPr>
          <p:spPr>
            <a:xfrm rot="5400000">
              <a:off x="18667945" y="8564405"/>
              <a:ext cx="3492719" cy="12315450"/>
            </a:xfrm>
            <a:prstGeom prst="curvedConnector3">
              <a:avLst/>
            </a:prstGeom>
            <a:noFill/>
            <a:ln w="76200" cap="sq" cmpd="sng" algn="ctr">
              <a:solidFill>
                <a:srgbClr val="006297"/>
              </a:solidFill>
              <a:prstDash val="solid"/>
              <a:tailEnd type="triangle"/>
            </a:ln>
            <a:effectLst/>
          </p:spPr>
        </p:cxn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4F1F76F5-F4DE-2D12-6B0E-67B1DB18E408}"/>
                </a:ext>
              </a:extLst>
            </p:cNvPr>
            <p:cNvSpPr/>
            <p:nvPr/>
          </p:nvSpPr>
          <p:spPr>
            <a:xfrm>
              <a:off x="10591801" y="6510298"/>
              <a:ext cx="7329556" cy="1198384"/>
            </a:xfrm>
            <a:prstGeom prst="flowChartMagneticDisk">
              <a:avLst/>
            </a:prstGeom>
            <a:gradFill>
              <a:gsLst>
                <a:gs pos="0">
                  <a:srgbClr val="006297">
                    <a:lumMod val="5000"/>
                    <a:lumOff val="95000"/>
                  </a:srgbClr>
                </a:gs>
                <a:gs pos="100000">
                  <a:srgbClr val="4F5759"/>
                </a:gs>
              </a:gsLst>
              <a:lin ang="0" scaled="0"/>
            </a:gra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Database location 1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4" name="Flowchart: Magnetic Disk 13">
              <a:extLst>
                <a:ext uri="{FF2B5EF4-FFF2-40B4-BE49-F238E27FC236}">
                  <a16:creationId xmlns:a16="http://schemas.microsoft.com/office/drawing/2014/main" id="{91A4580C-5040-5A27-2737-582EC340AE8A}"/>
                </a:ext>
              </a:extLst>
            </p:cNvPr>
            <p:cNvSpPr/>
            <p:nvPr/>
          </p:nvSpPr>
          <p:spPr>
            <a:xfrm>
              <a:off x="10591800" y="11462656"/>
              <a:ext cx="7329556" cy="1198384"/>
            </a:xfrm>
            <a:prstGeom prst="flowChartMagneticDisk">
              <a:avLst/>
            </a:prstGeom>
            <a:gradFill>
              <a:gsLst>
                <a:gs pos="0">
                  <a:srgbClr val="006297">
                    <a:lumMod val="5000"/>
                    <a:lumOff val="95000"/>
                  </a:srgbClr>
                </a:gs>
                <a:gs pos="100000">
                  <a:srgbClr val="4F5759"/>
                </a:gs>
              </a:gsLst>
              <a:lin ang="0" scaled="0"/>
            </a:gra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Database location 2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Flowchart: Magnetic Disk 14">
              <a:extLst>
                <a:ext uri="{FF2B5EF4-FFF2-40B4-BE49-F238E27FC236}">
                  <a16:creationId xmlns:a16="http://schemas.microsoft.com/office/drawing/2014/main" id="{0E0E7DD6-AA64-DBD7-98C8-BA1AD4A8E59C}"/>
                </a:ext>
              </a:extLst>
            </p:cNvPr>
            <p:cNvSpPr/>
            <p:nvPr/>
          </p:nvSpPr>
          <p:spPr>
            <a:xfrm>
              <a:off x="10591800" y="16468490"/>
              <a:ext cx="7329556" cy="1198384"/>
            </a:xfrm>
            <a:prstGeom prst="flowChartMagneticDisk">
              <a:avLst/>
            </a:prstGeom>
            <a:gradFill>
              <a:gsLst>
                <a:gs pos="0">
                  <a:srgbClr val="006297">
                    <a:lumMod val="5000"/>
                    <a:lumOff val="95000"/>
                  </a:srgbClr>
                </a:gs>
                <a:gs pos="100000">
                  <a:srgbClr val="4F5759"/>
                </a:gs>
              </a:gsLst>
              <a:lin ang="0" scaled="0"/>
            </a:gra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Database location 3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" name="Flowchart: Magnetic Disk 15">
              <a:extLst>
                <a:ext uri="{FF2B5EF4-FFF2-40B4-BE49-F238E27FC236}">
                  <a16:creationId xmlns:a16="http://schemas.microsoft.com/office/drawing/2014/main" id="{8AD71379-8A8D-9169-429E-3F58DFF4F257}"/>
                </a:ext>
              </a:extLst>
            </p:cNvPr>
            <p:cNvSpPr/>
            <p:nvPr/>
          </p:nvSpPr>
          <p:spPr>
            <a:xfrm>
              <a:off x="10591801" y="20509967"/>
              <a:ext cx="7329556" cy="1198384"/>
            </a:xfrm>
            <a:prstGeom prst="flowChartMagneticDisk">
              <a:avLst/>
            </a:prstGeom>
            <a:gradFill>
              <a:gsLst>
                <a:gs pos="0">
                  <a:srgbClr val="006297">
                    <a:lumMod val="5000"/>
                    <a:lumOff val="95000"/>
                  </a:srgbClr>
                </a:gs>
                <a:gs pos="100000">
                  <a:srgbClr val="4F5759"/>
                </a:gs>
              </a:gsLst>
              <a:lin ang="0" scaled="0"/>
            </a:gra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21945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5759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Database location 4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F575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17" name="Connector: Elbow 60">
              <a:extLst>
                <a:ext uri="{FF2B5EF4-FFF2-40B4-BE49-F238E27FC236}">
                  <a16:creationId xmlns:a16="http://schemas.microsoft.com/office/drawing/2014/main" id="{78F16905-2CC2-8930-B534-316F797BA288}"/>
                </a:ext>
              </a:extLst>
            </p:cNvPr>
            <p:cNvCxnSpPr>
              <a:cxnSpLocks/>
              <a:stCxn id="7" idx="2"/>
              <a:endCxn id="16" idx="1"/>
            </p:cNvCxnSpPr>
            <p:nvPr/>
          </p:nvCxnSpPr>
          <p:spPr>
            <a:xfrm rot="5400000">
              <a:off x="19150922" y="13088859"/>
              <a:ext cx="2526767" cy="12315449"/>
            </a:xfrm>
            <a:prstGeom prst="curvedConnector3">
              <a:avLst/>
            </a:prstGeom>
            <a:noFill/>
            <a:ln w="76200" cap="sq" cmpd="sng" algn="ctr">
              <a:solidFill>
                <a:srgbClr val="006297"/>
              </a:solidFill>
              <a:prstDash val="solid"/>
              <a:tailEnd type="triangle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C6F3A8-9A61-ABAA-4A01-D71BFD1B15AC}"/>
                </a:ext>
              </a:extLst>
            </p:cNvPr>
            <p:cNvSpPr txBox="1"/>
            <p:nvPr/>
          </p:nvSpPr>
          <p:spPr>
            <a:xfrm>
              <a:off x="19870883" y="6587268"/>
              <a:ext cx="2417617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Input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3CAB113-0E7B-0400-366F-4569D920F241}"/>
                </a:ext>
              </a:extLst>
            </p:cNvPr>
            <p:cNvSpPr txBox="1"/>
            <p:nvPr/>
          </p:nvSpPr>
          <p:spPr>
            <a:xfrm>
              <a:off x="19870883" y="11509491"/>
              <a:ext cx="2417617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Input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749C9B-A798-2239-2C52-2FF303F7B4C9}"/>
                </a:ext>
              </a:extLst>
            </p:cNvPr>
            <p:cNvSpPr txBox="1"/>
            <p:nvPr/>
          </p:nvSpPr>
          <p:spPr>
            <a:xfrm>
              <a:off x="19870883" y="16477781"/>
              <a:ext cx="2417617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Input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06ABCA9-E467-01E8-BECE-BCE60B54E001}"/>
                </a:ext>
              </a:extLst>
            </p:cNvPr>
            <p:cNvSpPr txBox="1"/>
            <p:nvPr/>
          </p:nvSpPr>
          <p:spPr>
            <a:xfrm>
              <a:off x="25680012" y="8922781"/>
              <a:ext cx="1867614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Output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9F1A6A-1F56-47AB-E0D0-D4E9F61F3495}"/>
                </a:ext>
              </a:extLst>
            </p:cNvPr>
            <p:cNvSpPr txBox="1"/>
            <p:nvPr/>
          </p:nvSpPr>
          <p:spPr>
            <a:xfrm>
              <a:off x="25658238" y="13910981"/>
              <a:ext cx="1867614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Output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1C0172-D2E5-F7B3-F693-F0A1F44F8B37}"/>
                </a:ext>
              </a:extLst>
            </p:cNvPr>
            <p:cNvSpPr txBox="1"/>
            <p:nvPr/>
          </p:nvSpPr>
          <p:spPr>
            <a:xfrm>
              <a:off x="25658238" y="18654776"/>
              <a:ext cx="1867614" cy="48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F5759"/>
                  </a:solidFill>
                  <a:effectLst/>
                  <a:uLnTx/>
                  <a:uFillTx/>
                  <a:latin typeface="Calibri"/>
                </a:rPr>
                <a:t>Output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9130A9E-5A33-D31A-25A5-910F4FBE2ED8}"/>
              </a:ext>
            </a:extLst>
          </p:cNvPr>
          <p:cNvSpPr txBox="1"/>
          <p:nvPr/>
        </p:nvSpPr>
        <p:spPr>
          <a:xfrm>
            <a:off x="1765364" y="3886200"/>
            <a:ext cx="24374776" cy="2040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914400">
              <a:lnSpc>
                <a:spcPct val="150000"/>
              </a:lnSpc>
            </a:pPr>
            <a:r>
              <a:rPr lang="en-US" sz="4400" b="1" u="sng" dirty="0">
                <a:solidFill>
                  <a:srgbClr val="4F5759"/>
                </a:solidFill>
                <a:latin typeface="Calibri"/>
              </a:rPr>
              <a:t>Q &amp; A: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Q: </a:t>
            </a:r>
            <a:r>
              <a:rPr lang="en-US" sz="4000" dirty="0">
                <a:solidFill>
                  <a:srgbClr val="4F5759"/>
                </a:solidFill>
                <a:latin typeface="Calibri"/>
              </a:rPr>
              <a:t>Would the token usage of LLM increase, compared to human manual coding? </a:t>
            </a:r>
          </a:p>
          <a:p>
            <a:pPr marL="2651706" lvl="2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A: No. LLM is used only during </a:t>
            </a:r>
          </a:p>
          <a:p>
            <a:pPr marL="3566106" lvl="2" indent="-914400" defTabSz="914400">
              <a:lnSpc>
                <a:spcPct val="150000"/>
              </a:lnSpc>
              <a:buFontTx/>
              <a:buAutoNum type="arabicParenBoth"/>
            </a:pPr>
            <a:r>
              <a:rPr lang="en-US" sz="4000" dirty="0">
                <a:solidFill>
                  <a:srgbClr val="CC00FF"/>
                </a:solidFill>
                <a:latin typeface="Calibri"/>
                <a:sym typeface="Wingdings" panose="05000000000000000000" pitchFamily="2" charset="2"/>
              </a:rPr>
              <a:t>BRD reading &amp; code generation</a:t>
            </a:r>
            <a:endParaRPr lang="en-US" sz="4000" dirty="0">
              <a:solidFill>
                <a:srgbClr val="4F5759"/>
              </a:solidFill>
              <a:latin typeface="Calibri"/>
              <a:sym typeface="Wingdings" panose="05000000000000000000" pitchFamily="2" charset="2"/>
            </a:endParaRPr>
          </a:p>
          <a:p>
            <a:pPr marL="3566106" lvl="2" indent="-914400" defTabSz="914400">
              <a:lnSpc>
                <a:spcPct val="150000"/>
              </a:lnSpc>
              <a:buFontTx/>
              <a:buAutoNum type="arabicParenBoth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correction of failed BRD examples before deployment</a:t>
            </a:r>
            <a:r>
              <a:rPr lang="en-US" sz="4000" dirty="0">
                <a:solidFill>
                  <a:srgbClr val="CC00FF"/>
                </a:solidFill>
                <a:latin typeface="Calibri"/>
                <a:sym typeface="Wingdings" panose="05000000000000000000" pitchFamily="2" charset="2"/>
              </a:rPr>
              <a:t/>
            </a: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/>
            </a:r>
          </a:p>
          <a:p>
            <a:pPr marL="3566106" lvl="2" indent="-914400" defTabSz="914400">
              <a:lnSpc>
                <a:spcPct val="150000"/>
              </a:lnSpc>
              <a:buFontTx/>
              <a:buAutoNum type="arabicParenBoth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If required, the LLM-generated function can use the LLM call internally too.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Q: Would the speed be slow? </a:t>
            </a:r>
          </a:p>
          <a:p>
            <a:pPr marL="2651706" lvl="2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A: No. The generated </a:t>
            </a:r>
            <a:r>
              <a:rPr lang="en-US" sz="4000" dirty="0">
                <a:solidFill>
                  <a:srgbClr val="CC00FF"/>
                </a:solidFill>
                <a:latin typeface="Calibri"/>
                <a:sym typeface="Wingdings" panose="05000000000000000000" pitchFamily="2" charset="2"/>
              </a:rPr>
              <a:t>function</a:t>
            </a: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 is used to process jobs. So no slow down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Q: How can you coordinate BRDs Agents to form a full flow? </a:t>
            </a:r>
          </a:p>
          <a:p>
            <a:pPr marL="2651706" lvl="2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  <a:sym typeface="Wingdings" panose="05000000000000000000" pitchFamily="2" charset="2"/>
              </a:rPr>
              <a:t>A: Via “read-write” locations. See the figure on the right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Q: How can you make sure that the GPT-made functions are safe and correct?</a:t>
            </a:r>
          </a:p>
          <a:p>
            <a:pPr marL="2651706" lvl="2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A: The </a:t>
            </a:r>
            <a:r>
              <a:rPr lang="en-US" sz="4000" dirty="0">
                <a:solidFill>
                  <a:srgbClr val="4F5759"/>
                </a:solidFill>
                <a:highlight>
                  <a:srgbClr val="FFFF00"/>
                </a:highlight>
                <a:latin typeface="Calibri"/>
              </a:rPr>
              <a:t>test</a:t>
            </a:r>
            <a:r>
              <a:rPr lang="en-US" sz="4000" dirty="0">
                <a:solidFill>
                  <a:srgbClr val="4F5759"/>
                </a:solidFill>
                <a:latin typeface="Calibri"/>
              </a:rPr>
              <a:t> of GPT-made function is done outside of the GPT, </a:t>
            </a:r>
            <a:r>
              <a:rPr lang="en-US" sz="4000" dirty="0">
                <a:solidFill>
                  <a:srgbClr val="4F5759"/>
                </a:solidFill>
                <a:highlight>
                  <a:srgbClr val="FFFF00"/>
                </a:highlight>
                <a:latin typeface="Calibri"/>
              </a:rPr>
              <a:t>by the Python code </a:t>
            </a:r>
            <a:r>
              <a:rPr lang="en-US" sz="4000" dirty="0">
                <a:solidFill>
                  <a:srgbClr val="4F5759"/>
                </a:solidFill>
                <a:latin typeface="Calibri"/>
              </a:rPr>
              <a:t>(using a hard-coded evaluation method). </a:t>
            </a:r>
          </a:p>
          <a:p>
            <a:pPr marL="3394656" lvl="2" indent="-742950" defTabSz="914400">
              <a:lnSpc>
                <a:spcPct val="150000"/>
              </a:lnSpc>
              <a:buFontTx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The test checks the output format is correct and the answer is correct. </a:t>
            </a:r>
          </a:p>
          <a:p>
            <a:pPr marL="3394656" lvl="2" indent="-742950" defTabSz="914400">
              <a:lnSpc>
                <a:spcPct val="150000"/>
              </a:lnSpc>
              <a:buFontTx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The user is supposed to put some real task-related test using the actual items with expected answer at the beginning of the deployment, so that even the deployed function fails right away in case of bug. </a:t>
            </a:r>
          </a:p>
          <a:p>
            <a:pPr marL="1200150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Q: I am still uneasy on the fact that the AI is making the function. </a:t>
            </a:r>
          </a:p>
          <a:p>
            <a:pPr marL="2682875" lvl="1" defTabSz="914400">
              <a:lnSpc>
                <a:spcPct val="150000"/>
              </a:lnSpc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A: </a:t>
            </a:r>
          </a:p>
          <a:p>
            <a:pPr marL="3425825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The developer can always look at the generated function for the BRD. </a:t>
            </a:r>
          </a:p>
          <a:p>
            <a:pPr marL="3425825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If the LLM fails to pass the test and in real-life jobs, the program will let the developer know this.</a:t>
            </a:r>
          </a:p>
          <a:p>
            <a:pPr marL="3425825" lvl="1" indent="-742950" defTabSz="9144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solidFill>
                  <a:srgbClr val="4F5759"/>
                </a:solidFill>
                <a:latin typeface="Calibri"/>
              </a:rPr>
              <a:t>The program gives an option to do manual coding for a BRD too.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6AC05-0D09-0DBB-0EF1-1A1C2760961F}"/>
              </a:ext>
            </a:extLst>
          </p:cNvPr>
          <p:cNvSpPr txBox="1"/>
          <p:nvPr/>
        </p:nvSpPr>
        <p:spPr>
          <a:xfrm>
            <a:off x="27222338" y="4212854"/>
            <a:ext cx="14903498" cy="2018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 defTabSz="914400">
              <a:lnSpc>
                <a:spcPct val="150000"/>
              </a:lnSpc>
            </a:pPr>
            <a:r>
              <a:rPr lang="en-US" sz="4400" b="1" u="sng" dirty="0">
                <a:solidFill>
                  <a:srgbClr val="4F5759"/>
                </a:solidFill>
                <a:latin typeface="Calibri"/>
              </a:rPr>
              <a:t>Hungry Guest</a:t>
            </a:r>
          </a:p>
          <a:p>
            <a:pPr marL="0" lvl="1" algn="ctr" defTabSz="914400">
              <a:lnSpc>
                <a:spcPct val="150000"/>
              </a:lnSpc>
            </a:pPr>
            <a:r>
              <a:rPr lang="en-US" sz="4400" b="1" dirty="0">
                <a:solidFill>
                  <a:srgbClr val="4F5759"/>
                </a:solidFill>
                <a:latin typeface="Calibri"/>
              </a:rPr>
              <a:t>(only the source and destination sites are coordinated)</a:t>
            </a:r>
            <a:endParaRPr lang="en-US" sz="4000" dirty="0">
              <a:solidFill>
                <a:srgbClr val="4F575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337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8C72B4-08BF-31DE-3B4D-5902E7D6AF2D}"/>
              </a:ext>
            </a:extLst>
          </p:cNvPr>
          <p:cNvSpPr/>
          <p:nvPr/>
        </p:nvSpPr>
        <p:spPr>
          <a:xfrm>
            <a:off x="17983200" y="19964400"/>
            <a:ext cx="24765000" cy="4515105"/>
          </a:xfrm>
          <a:prstGeom prst="roundRect">
            <a:avLst>
              <a:gd name="adj" fmla="val 5876"/>
            </a:avLst>
          </a:prstGeom>
          <a:solidFill>
            <a:srgbClr val="FFFFFF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E64130A-5FEF-C37A-8943-B698781DA0CA}"/>
              </a:ext>
            </a:extLst>
          </p:cNvPr>
          <p:cNvSpPr/>
          <p:nvPr/>
        </p:nvSpPr>
        <p:spPr>
          <a:xfrm>
            <a:off x="0" y="19441"/>
            <a:ext cx="43886520" cy="1342084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762120" marR="0" lvl="0" indent="-762120" algn="ctr" defTabSz="914400" eaLnBrk="1" fontAlgn="auto" latinLnBrk="0" hangingPunct="1">
              <a:lnSpc>
                <a:spcPct val="100000"/>
              </a:lnSpc>
              <a:spcBef>
                <a:spcPts val="2015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0" b="1" i="0" u="none" strike="noStrike" kern="0" cap="none" spc="-1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Directory Structure of the Project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D421AE-522F-284E-B1DC-32934C5473BA}"/>
              </a:ext>
            </a:extLst>
          </p:cNvPr>
          <p:cNvSpPr/>
          <p:nvPr/>
        </p:nvSpPr>
        <p:spPr>
          <a:xfrm>
            <a:off x="1676400" y="2286000"/>
            <a:ext cx="39928800" cy="16078200"/>
          </a:xfrm>
          <a:prstGeom prst="roundRect">
            <a:avLst>
              <a:gd name="adj" fmla="val 0"/>
            </a:avLst>
          </a:prstGeom>
          <a:noFill/>
          <a:ln w="12700" cap="sq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sz="32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no-trust-me-agentic-ai/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job_manager.py                         ← main entry point</a:t>
            </a:r>
          </a:p>
          <a:p>
            <a:pPr defTabSz="914400">
              <a:defRPr/>
            </a:pPr>
            <a:r>
              <a:rPr lang="en-US" sz="32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.</a:t>
            </a:r>
            <a:r>
              <a:rPr lang="en-US" sz="3200" b="1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env.example</a:t>
            </a:r>
            <a:r>
              <a:rPr lang="en-US" sz="32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← </a:t>
            </a:r>
            <a:r>
              <a:rPr lang="en-US" sz="32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Azure/OpenAI environment variable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all_process.log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       ← main runtime log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source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└── brd_processor.py                   ← main BRD-processing agent logic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documents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BRD_word_count.txt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← business requirement document (User places this in “documents” folder)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├──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BRD_word_count_jobs.json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← jobs for that BRD (Just to evaluate the program; ordinarily, it should be in a Dev/UAT database)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└──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done_BRD_word_count_jobs.json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← automatically created processing state (Just to evaluate the program; ordinarily, it should be in a database 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└──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saved_functions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                   ← Contains LLM-generated and handcrafted functions (if exists).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                                       If you delete this, the folder will be recreated automatically, but the handcrafted functions will be gone.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├──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registry.json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     ← registry of generated implementations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├──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                ← LLM-generated implementations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BRD_word_count_YYYYMMDD_HHMMSS.py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← This is the newest function and it will be used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├──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BRD_word_count_YYYYMMDD_HHMMSS.py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← This is one of the “quarantined” functions. Will not be used.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   └──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C0C0C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└──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_handcrafted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    ← optional user-written implementation. The folder name is *_handcrafted, where * indicates the name of the BRD file.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│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└──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highlight>
                  <a:srgbClr val="00FF00"/>
                </a:highlight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BRD_word_count.py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← recommended filename (in practice, any name will be okay)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DDAAA-20FB-D99B-7DF0-5CA99EBA0D92}"/>
              </a:ext>
            </a:extLst>
          </p:cNvPr>
          <p:cNvSpPr/>
          <p:nvPr/>
        </p:nvSpPr>
        <p:spPr>
          <a:xfrm>
            <a:off x="18821400" y="20497800"/>
            <a:ext cx="3505200" cy="609600"/>
          </a:xfrm>
          <a:prstGeom prst="rect">
            <a:avLst/>
          </a:prstGeom>
          <a:solidFill>
            <a:srgbClr val="FFFF00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6A3B8-2AAD-6EC5-9B72-5CDCF03F935C}"/>
              </a:ext>
            </a:extLst>
          </p:cNvPr>
          <p:cNvSpPr txBox="1"/>
          <p:nvPr/>
        </p:nvSpPr>
        <p:spPr>
          <a:xfrm>
            <a:off x="23012400" y="20497800"/>
            <a:ext cx="1920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194506"/>
            <a:r>
              <a:rPr lang="en-US" sz="3200" b="1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Three main folders in the project</a:t>
            </a:r>
            <a:endParaRPr lang="en-US" sz="8640" dirty="0">
              <a:solidFill>
                <a:srgbClr val="4F5759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19A95-131F-28B0-CB90-B469DC7B6136}"/>
              </a:ext>
            </a:extLst>
          </p:cNvPr>
          <p:cNvSpPr txBox="1"/>
          <p:nvPr/>
        </p:nvSpPr>
        <p:spPr>
          <a:xfrm>
            <a:off x="23027640" y="21488400"/>
            <a:ext cx="195300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194506"/>
            <a:r>
              <a:rPr lang="en-US" sz="3200" b="1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Automatically generated files (deletion of these files will generate new ones)</a:t>
            </a:r>
            <a:endParaRPr lang="en-US" sz="8640" dirty="0">
              <a:solidFill>
                <a:srgbClr val="4F5759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8CF01A-19A9-A89F-DBCF-FCECC309A385}"/>
              </a:ext>
            </a:extLst>
          </p:cNvPr>
          <p:cNvSpPr txBox="1"/>
          <p:nvPr/>
        </p:nvSpPr>
        <p:spPr>
          <a:xfrm>
            <a:off x="23012400" y="22488585"/>
            <a:ext cx="1920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194506"/>
            <a:r>
              <a:rPr lang="en-US" sz="3200" b="1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 provides these</a:t>
            </a:r>
            <a:endParaRPr lang="en-US" sz="8640" dirty="0">
              <a:solidFill>
                <a:srgbClr val="4F5759"/>
              </a:solidFill>
              <a:latin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B0F92-440D-7F58-DFF6-9A2B30C72BCA}"/>
              </a:ext>
            </a:extLst>
          </p:cNvPr>
          <p:cNvSpPr/>
          <p:nvPr/>
        </p:nvSpPr>
        <p:spPr>
          <a:xfrm>
            <a:off x="18821400" y="21488400"/>
            <a:ext cx="3505200" cy="609600"/>
          </a:xfrm>
          <a:prstGeom prst="rect">
            <a:avLst/>
          </a:prstGeom>
          <a:solidFill>
            <a:srgbClr val="FFFFFF">
              <a:lumMod val="65000"/>
            </a:srgbClr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B5E5D-AC3E-9926-290D-2B70EEC143A6}"/>
              </a:ext>
            </a:extLst>
          </p:cNvPr>
          <p:cNvSpPr/>
          <p:nvPr/>
        </p:nvSpPr>
        <p:spPr>
          <a:xfrm>
            <a:off x="18821400" y="22479000"/>
            <a:ext cx="3505200" cy="609600"/>
          </a:xfrm>
          <a:prstGeom prst="rect">
            <a:avLst/>
          </a:prstGeom>
          <a:solidFill>
            <a:srgbClr val="00FF00"/>
          </a:solidFill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03B2D1-0B5E-6905-37C1-8873A4DF9E97}"/>
              </a:ext>
            </a:extLst>
          </p:cNvPr>
          <p:cNvSpPr/>
          <p:nvPr/>
        </p:nvSpPr>
        <p:spPr>
          <a:xfrm>
            <a:off x="18821400" y="23469600"/>
            <a:ext cx="3505200" cy="609600"/>
          </a:xfrm>
          <a:prstGeom prst="rect">
            <a:avLst/>
          </a:prstGeom>
          <a:noFill/>
          <a:ln w="12700" cap="sq" cmpd="sng" algn="ctr">
            <a:solidFill>
              <a:srgbClr val="006297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64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25C2D-8BE5-8C01-1F5F-723B16224DE6}"/>
              </a:ext>
            </a:extLst>
          </p:cNvPr>
          <p:cNvSpPr txBox="1"/>
          <p:nvPr/>
        </p:nvSpPr>
        <p:spPr>
          <a:xfrm>
            <a:off x="23012400" y="23494425"/>
            <a:ext cx="1920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194506"/>
            <a:r>
              <a:rPr lang="en-US" sz="3200" b="1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 files</a:t>
            </a:r>
            <a:endParaRPr lang="en-US" sz="8640" dirty="0">
              <a:solidFill>
                <a:srgbClr val="4F57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235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177F57-5024-AAC3-EAA9-97F19B2BFE68}"/>
              </a:ext>
            </a:extLst>
          </p:cNvPr>
          <p:cNvSpPr/>
          <p:nvPr/>
        </p:nvSpPr>
        <p:spPr>
          <a:xfrm>
            <a:off x="11178657" y="8039100"/>
            <a:ext cx="13891143" cy="16550376"/>
          </a:xfrm>
          <a:prstGeom prst="roundRect">
            <a:avLst>
              <a:gd name="adj" fmla="val 3647"/>
            </a:avLst>
          </a:prstGeom>
          <a:noFill/>
          <a:ln w="28575" cap="sq" cmpd="sng" algn="ctr">
            <a:solidFill>
              <a:srgbClr val="0000FF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4C82B57-F564-6280-53E1-EF53DD92F1C9}"/>
              </a:ext>
            </a:extLst>
          </p:cNvPr>
          <p:cNvSpPr/>
          <p:nvPr/>
        </p:nvSpPr>
        <p:spPr>
          <a:xfrm>
            <a:off x="0" y="19441"/>
            <a:ext cx="43886520" cy="1342084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762120" marR="0" lvl="0" indent="-762120" algn="ctr" defTabSz="914400" eaLnBrk="1" fontAlgn="auto" latinLnBrk="0" hangingPunct="1">
              <a:lnSpc>
                <a:spcPct val="100000"/>
              </a:lnSpc>
              <a:spcBef>
                <a:spcPts val="2015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0" b="1" i="0" u="none" strike="noStrike" kern="0" cap="none" spc="-1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 </a:t>
            </a:r>
            <a:r>
              <a:rPr lang="en-US" sz="8000" b="1" kern="0" spc="-1" dirty="0">
                <a:solidFill>
                  <a:srgbClr val="CC00FF"/>
                </a:solidFill>
                <a:latin typeface="Arial"/>
              </a:rPr>
              <a:t>Architecture</a:t>
            </a:r>
            <a:endParaRPr kumimoji="0" lang="en-US" sz="8000" b="1" i="0" u="none" strike="noStrike" kern="0" cap="none" spc="-1" normalizeH="0" baseline="0" noProof="0" dirty="0">
              <a:ln>
                <a:noFill/>
              </a:ln>
              <a:solidFill>
                <a:srgbClr val="CC00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ACAFD7-64E7-E58F-3E8C-4BC1B0156D17}"/>
              </a:ext>
            </a:extLst>
          </p:cNvPr>
          <p:cNvGrpSpPr/>
          <p:nvPr/>
        </p:nvGrpSpPr>
        <p:grpSpPr>
          <a:xfrm>
            <a:off x="25448167" y="19009805"/>
            <a:ext cx="4628758" cy="2906012"/>
            <a:chOff x="33209419" y="1678275"/>
            <a:chExt cx="4628758" cy="3743534"/>
          </a:xfrm>
        </p:grpSpPr>
        <p:pic>
          <p:nvPicPr>
            <p:cNvPr id="5" name="Picture 2" descr="Folder - Free vector icons on creazilla.com">
              <a:extLst>
                <a:ext uri="{FF2B5EF4-FFF2-40B4-BE49-F238E27FC236}">
                  <a16:creationId xmlns:a16="http://schemas.microsoft.com/office/drawing/2014/main" id="{17610117-67DD-756B-EB1F-949C27ED31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18" t="16444" r="8518" b="16458"/>
            <a:stretch/>
          </p:blipFill>
          <p:spPr bwMode="auto">
            <a:xfrm>
              <a:off x="33209419" y="1678275"/>
              <a:ext cx="4628758" cy="3743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CEF1CCC-A759-D07A-7207-7ECDA6DDB376}"/>
                </a:ext>
              </a:extLst>
            </p:cNvPr>
            <p:cNvGrpSpPr/>
            <p:nvPr/>
          </p:nvGrpSpPr>
          <p:grpSpPr>
            <a:xfrm>
              <a:off x="33233353" y="2209594"/>
              <a:ext cx="4431238" cy="2235410"/>
              <a:chOff x="2045689" y="827226"/>
              <a:chExt cx="6195646" cy="338061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5864F9-8C6A-3512-23C0-C9624C5D92DA}"/>
                  </a:ext>
                </a:extLst>
              </p:cNvPr>
              <p:cNvSpPr txBox="1"/>
              <p:nvPr/>
            </p:nvSpPr>
            <p:spPr>
              <a:xfrm>
                <a:off x="2045689" y="827226"/>
                <a:ext cx="3202443" cy="791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2800" b="1" dirty="0">
                    <a:solidFill>
                      <a:prstClr val="black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./documents/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58BF2F-B48F-50A4-5C60-0C8F1B7C9551}"/>
                  </a:ext>
                </a:extLst>
              </p:cNvPr>
              <p:cNvSpPr txBox="1"/>
              <p:nvPr/>
            </p:nvSpPr>
            <p:spPr>
              <a:xfrm>
                <a:off x="2831138" y="1929376"/>
                <a:ext cx="5410197" cy="2278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>
                  <a:defRPr/>
                </a:pPr>
                <a:r>
                  <a:rPr lang="en-US" sz="1400" dirty="0">
                    <a:solidFill>
                      <a:srgbClr val="CC00FF"/>
                    </a:solidFill>
                    <a:latin typeface="Arial"/>
                  </a:rPr>
                  <a:t>BRD_tolerate_OCR_mistakes</a:t>
                </a:r>
                <a:r>
                  <a:rPr lang="en-US" sz="1400" dirty="0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.txt</a:t>
                </a:r>
              </a:p>
              <a:p>
                <a:pPr defTabSz="914400">
                  <a:defRPr/>
                </a:pPr>
                <a:r>
                  <a:rPr lang="en-US" sz="1400" dirty="0" err="1">
                    <a:solidFill>
                      <a:srgbClr val="CC00FF"/>
                    </a:solidFill>
                    <a:latin typeface="Arial"/>
                  </a:rPr>
                  <a:t>BRD_tolerate_OCR_mistakes</a:t>
                </a:r>
                <a:r>
                  <a:rPr lang="en-US" sz="1400" dirty="0" err="1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_jobs.json</a:t>
                </a:r>
                <a:endParaRPr lang="en-US" sz="1400" dirty="0">
                  <a:solidFill>
                    <a:prstClr val="black">
                      <a:lumMod val="50000"/>
                    </a:prstClr>
                  </a:solidFill>
                  <a:latin typeface="Arial"/>
                </a:endParaRPr>
              </a:p>
              <a:p>
                <a:pPr defTabSz="914400">
                  <a:defRPr/>
                </a:pPr>
                <a:endParaRPr lang="en-US" sz="1400" dirty="0">
                  <a:solidFill>
                    <a:prstClr val="black">
                      <a:lumMod val="50000"/>
                    </a:prstClr>
                  </a:solidFill>
                  <a:latin typeface="Arial"/>
                </a:endParaRPr>
              </a:p>
              <a:p>
                <a:pPr defTabSz="914400">
                  <a:defRPr/>
                </a:pPr>
                <a:r>
                  <a:rPr lang="en-US" sz="1400" dirty="0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BRD_word_count.txt </a:t>
                </a:r>
              </a:p>
              <a:p>
                <a:pPr defTabSz="914400">
                  <a:defRPr/>
                </a:pPr>
                <a:r>
                  <a:rPr lang="en-US" sz="1400" dirty="0" err="1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BRD_word_count</a:t>
                </a:r>
                <a:r>
                  <a:rPr lang="en-US" sz="1400" dirty="0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 _</a:t>
                </a:r>
                <a:r>
                  <a:rPr lang="en-US" sz="1400" dirty="0" err="1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jobs.json</a:t>
                </a:r>
                <a:r>
                  <a:rPr lang="en-US" sz="1400" dirty="0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 </a:t>
                </a:r>
              </a:p>
            </p:txBody>
          </p:sp>
        </p:grpSp>
      </p:grpSp>
      <p:cxnSp>
        <p:nvCxnSpPr>
          <p:cNvPr id="9" name="Connector: Elbow 87">
            <a:extLst>
              <a:ext uri="{FF2B5EF4-FFF2-40B4-BE49-F238E27FC236}">
                <a16:creationId xmlns:a16="http://schemas.microsoft.com/office/drawing/2014/main" id="{9F6CE900-07B6-8B75-24DD-FA3AA1CA6939}"/>
              </a:ext>
            </a:extLst>
          </p:cNvPr>
          <p:cNvCxnSpPr>
            <a:cxnSpLocks/>
            <a:stCxn id="130" idx="2"/>
            <a:endCxn id="34" idx="0"/>
          </p:cNvCxnSpPr>
          <p:nvPr/>
        </p:nvCxnSpPr>
        <p:spPr>
          <a:xfrm>
            <a:off x="5928030" y="3972742"/>
            <a:ext cx="5334" cy="319298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811AE6-0830-4C40-F1BF-97EAB74EF60A}"/>
              </a:ext>
            </a:extLst>
          </p:cNvPr>
          <p:cNvSpPr/>
          <p:nvPr/>
        </p:nvSpPr>
        <p:spPr>
          <a:xfrm>
            <a:off x="15497248" y="14114340"/>
            <a:ext cx="8851911" cy="2537689"/>
          </a:xfrm>
          <a:prstGeom prst="roundRect">
            <a:avLst>
              <a:gd name="adj" fmla="val 8435"/>
            </a:avLst>
          </a:prstGeom>
          <a:gradFill flip="none" rotWithShape="1">
            <a:gsLst>
              <a:gs pos="0">
                <a:srgbClr val="FFFFFF"/>
              </a:gs>
              <a:gs pos="87000">
                <a:srgbClr val="FFFFFF"/>
              </a:gs>
              <a:gs pos="100000">
                <a:srgbClr val="FFFFCC"/>
              </a:gs>
            </a:gsLst>
            <a:path path="rect">
              <a:fillToRect l="50000" t="50000" r="50000" b="50000"/>
            </a:path>
            <a:tileRect/>
          </a:gradFill>
          <a:ln w="28575" cap="sq" cmpd="sng" algn="ctr">
            <a:solidFill>
              <a:srgbClr val="FFC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B928CF-51AC-E23B-BB49-5522145F14C5}"/>
              </a:ext>
            </a:extLst>
          </p:cNvPr>
          <p:cNvSpPr/>
          <p:nvPr/>
        </p:nvSpPr>
        <p:spPr>
          <a:xfrm>
            <a:off x="15914425" y="14685678"/>
            <a:ext cx="4798504" cy="521528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LLM: Make a function that does the task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" name="Connector: Elbow 87">
            <a:extLst>
              <a:ext uri="{FF2B5EF4-FFF2-40B4-BE49-F238E27FC236}">
                <a16:creationId xmlns:a16="http://schemas.microsoft.com/office/drawing/2014/main" id="{FF772285-D127-0495-87FD-D16B17880798}"/>
              </a:ext>
            </a:extLst>
          </p:cNvPr>
          <p:cNvCxnSpPr>
            <a:cxnSpLocks/>
            <a:stCxn id="146" idx="2"/>
            <a:endCxn id="169" idx="0"/>
          </p:cNvCxnSpPr>
          <p:nvPr/>
        </p:nvCxnSpPr>
        <p:spPr>
          <a:xfrm>
            <a:off x="18313289" y="16203763"/>
            <a:ext cx="6240" cy="614475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C1BE4D-947F-F5CF-775E-D8E7CE94FB66}"/>
              </a:ext>
            </a:extLst>
          </p:cNvPr>
          <p:cNvSpPr txBox="1"/>
          <p:nvPr/>
        </p:nvSpPr>
        <p:spPr>
          <a:xfrm>
            <a:off x="20467712" y="15683810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D69334-E05C-B19C-C3F6-3351A743AA55}"/>
              </a:ext>
            </a:extLst>
          </p:cNvPr>
          <p:cNvSpPr txBox="1"/>
          <p:nvPr/>
        </p:nvSpPr>
        <p:spPr>
          <a:xfrm>
            <a:off x="17790024" y="16235804"/>
            <a:ext cx="529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5" name="Connector: Elbow 131">
            <a:extLst>
              <a:ext uri="{FF2B5EF4-FFF2-40B4-BE49-F238E27FC236}">
                <a16:creationId xmlns:a16="http://schemas.microsoft.com/office/drawing/2014/main" id="{65ABDD66-3DF3-A200-280A-583468012BF9}"/>
              </a:ext>
            </a:extLst>
          </p:cNvPr>
          <p:cNvCxnSpPr>
            <a:cxnSpLocks/>
            <a:stCxn id="26" idx="1"/>
            <a:endCxn id="11" idx="3"/>
          </p:cNvCxnSpPr>
          <p:nvPr/>
        </p:nvCxnSpPr>
        <p:spPr>
          <a:xfrm flipH="1">
            <a:off x="20712929" y="14941930"/>
            <a:ext cx="731929" cy="4512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6" name="Diamond 15">
            <a:extLst>
              <a:ext uri="{FF2B5EF4-FFF2-40B4-BE49-F238E27FC236}">
                <a16:creationId xmlns:a16="http://schemas.microsoft.com/office/drawing/2014/main" id="{B593D06A-1FFF-7164-3186-B2D1D361BF79}"/>
              </a:ext>
            </a:extLst>
          </p:cNvPr>
          <p:cNvSpPr/>
          <p:nvPr/>
        </p:nvSpPr>
        <p:spPr>
          <a:xfrm>
            <a:off x="21324012" y="15654201"/>
            <a:ext cx="2691924" cy="773040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More than 10 trials?</a:t>
            </a:r>
          </a:p>
        </p:txBody>
      </p:sp>
      <p:cxnSp>
        <p:nvCxnSpPr>
          <p:cNvPr id="17" name="Connector: Elbow 87">
            <a:extLst>
              <a:ext uri="{FF2B5EF4-FFF2-40B4-BE49-F238E27FC236}">
                <a16:creationId xmlns:a16="http://schemas.microsoft.com/office/drawing/2014/main" id="{8868319C-E4D0-6162-113D-4B5C03B105BF}"/>
              </a:ext>
            </a:extLst>
          </p:cNvPr>
          <p:cNvCxnSpPr>
            <a:cxnSpLocks/>
            <a:stCxn id="146" idx="3"/>
            <a:endCxn id="16" idx="1"/>
          </p:cNvCxnSpPr>
          <p:nvPr/>
        </p:nvCxnSpPr>
        <p:spPr>
          <a:xfrm>
            <a:off x="19622809" y="16038112"/>
            <a:ext cx="1701203" cy="2609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C6AD2BC-0493-9C0C-8E8A-E4EF0CCEC735}"/>
              </a:ext>
            </a:extLst>
          </p:cNvPr>
          <p:cNvSpPr txBox="1"/>
          <p:nvPr/>
        </p:nvSpPr>
        <p:spPr>
          <a:xfrm>
            <a:off x="22540732" y="15243771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48D1EAD-4473-D33D-055D-F1EE8D39E577}"/>
              </a:ext>
            </a:extLst>
          </p:cNvPr>
          <p:cNvCxnSpPr>
            <a:cxnSpLocks/>
            <a:stCxn id="16" idx="2"/>
            <a:endCxn id="41" idx="0"/>
          </p:cNvCxnSpPr>
          <p:nvPr/>
        </p:nvCxnSpPr>
        <p:spPr>
          <a:xfrm rot="16200000" flipH="1">
            <a:off x="19449624" y="19647590"/>
            <a:ext cx="6442643" cy="1943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20" name="Connector: Elbow 87">
            <a:extLst>
              <a:ext uri="{FF2B5EF4-FFF2-40B4-BE49-F238E27FC236}">
                <a16:creationId xmlns:a16="http://schemas.microsoft.com/office/drawing/2014/main" id="{ABF37240-CFB1-FE95-D32A-CEE1E9FF74E3}"/>
              </a:ext>
            </a:extLst>
          </p:cNvPr>
          <p:cNvCxnSpPr>
            <a:cxnSpLocks/>
            <a:stCxn id="57" idx="2"/>
            <a:endCxn id="97" idx="0"/>
          </p:cNvCxnSpPr>
          <p:nvPr/>
        </p:nvCxnSpPr>
        <p:spPr>
          <a:xfrm flipH="1">
            <a:off x="5928030" y="8084464"/>
            <a:ext cx="5440" cy="1112107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57FAB87-4161-2538-7D14-E8E2AA3CF49B}"/>
              </a:ext>
            </a:extLst>
          </p:cNvPr>
          <p:cNvSpPr txBox="1"/>
          <p:nvPr/>
        </p:nvSpPr>
        <p:spPr>
          <a:xfrm>
            <a:off x="22329484" y="16325444"/>
            <a:ext cx="213885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 </a:t>
            </a:r>
          </a:p>
          <a:p>
            <a:pPr algn="ctr" defTabSz="914400">
              <a:defRPr/>
            </a:pPr>
            <a:r>
              <a:rPr lang="en-US" sz="1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(GPT should give up)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75C811-EEC5-1AFB-4D58-3D12146090E7}"/>
              </a:ext>
            </a:extLst>
          </p:cNvPr>
          <p:cNvGrpSpPr/>
          <p:nvPr/>
        </p:nvGrpSpPr>
        <p:grpSpPr>
          <a:xfrm>
            <a:off x="3564147" y="12516871"/>
            <a:ext cx="4746562" cy="670280"/>
            <a:chOff x="12799260" y="4501979"/>
            <a:chExt cx="18288000" cy="67028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6F18763-A9E1-2B43-4016-F07FD12298C5}"/>
                </a:ext>
              </a:extLst>
            </p:cNvPr>
            <p:cNvSpPr/>
            <p:nvPr/>
          </p:nvSpPr>
          <p:spPr>
            <a:xfrm>
              <a:off x="12799260" y="4707467"/>
              <a:ext cx="18288000" cy="464792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END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E4E170-6CBB-A900-8E31-B3CFB26A77C2}"/>
                </a:ext>
              </a:extLst>
            </p:cNvPr>
            <p:cNvSpPr txBox="1"/>
            <p:nvPr/>
          </p:nvSpPr>
          <p:spPr>
            <a:xfrm>
              <a:off x="16916401" y="4501979"/>
              <a:ext cx="1143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cxnSp>
        <p:nvCxnSpPr>
          <p:cNvPr id="25" name="Connector: Elbow 87">
            <a:extLst>
              <a:ext uri="{FF2B5EF4-FFF2-40B4-BE49-F238E27FC236}">
                <a16:creationId xmlns:a16="http://schemas.microsoft.com/office/drawing/2014/main" id="{E8ACF2B0-B8BE-FC77-331E-922485A7E48A}"/>
              </a:ext>
            </a:extLst>
          </p:cNvPr>
          <p:cNvCxnSpPr>
            <a:cxnSpLocks/>
            <a:stCxn id="60" idx="2"/>
            <a:endCxn id="23" idx="0"/>
          </p:cNvCxnSpPr>
          <p:nvPr/>
        </p:nvCxnSpPr>
        <p:spPr>
          <a:xfrm>
            <a:off x="5936539" y="12161085"/>
            <a:ext cx="889" cy="56127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F7A7F9-F638-2DA4-2224-6C08D582FF42}"/>
              </a:ext>
            </a:extLst>
          </p:cNvPr>
          <p:cNvSpPr/>
          <p:nvPr/>
        </p:nvSpPr>
        <p:spPr>
          <a:xfrm>
            <a:off x="21444858" y="14627998"/>
            <a:ext cx="2431596" cy="627863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 reflection prompt on the error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7" name="Connector: Elbow 87">
            <a:extLst>
              <a:ext uri="{FF2B5EF4-FFF2-40B4-BE49-F238E27FC236}">
                <a16:creationId xmlns:a16="http://schemas.microsoft.com/office/drawing/2014/main" id="{7AB95253-F988-AF50-58D0-FA2FDA4A4A4B}"/>
              </a:ext>
            </a:extLst>
          </p:cNvPr>
          <p:cNvCxnSpPr>
            <a:cxnSpLocks/>
            <a:stCxn id="16" idx="0"/>
            <a:endCxn id="26" idx="2"/>
          </p:cNvCxnSpPr>
          <p:nvPr/>
        </p:nvCxnSpPr>
        <p:spPr>
          <a:xfrm flipH="1" flipV="1">
            <a:off x="22660656" y="15255861"/>
            <a:ext cx="9318" cy="398340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28" name="Connector: Elbow 87">
            <a:extLst>
              <a:ext uri="{FF2B5EF4-FFF2-40B4-BE49-F238E27FC236}">
                <a16:creationId xmlns:a16="http://schemas.microsoft.com/office/drawing/2014/main" id="{71A64148-BF6A-F42D-4A5B-2146B1AA03D5}"/>
              </a:ext>
            </a:extLst>
          </p:cNvPr>
          <p:cNvCxnSpPr>
            <a:cxnSpLocks/>
            <a:stCxn id="11" idx="2"/>
            <a:endCxn id="146" idx="0"/>
          </p:cNvCxnSpPr>
          <p:nvPr/>
        </p:nvCxnSpPr>
        <p:spPr>
          <a:xfrm flipH="1">
            <a:off x="18313289" y="15207206"/>
            <a:ext cx="388" cy="66525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AC7C61E-119D-5B70-2816-35B7B932078F}"/>
              </a:ext>
            </a:extLst>
          </p:cNvPr>
          <p:cNvSpPr/>
          <p:nvPr/>
        </p:nvSpPr>
        <p:spPr>
          <a:xfrm>
            <a:off x="3767895" y="5137538"/>
            <a:ext cx="4330938" cy="44956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Hash the BRD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7AD256AE-6CA9-93F2-6107-2708BD57DE79}"/>
              </a:ext>
            </a:extLst>
          </p:cNvPr>
          <p:cNvSpPr/>
          <p:nvPr/>
        </p:nvSpPr>
        <p:spPr>
          <a:xfrm>
            <a:off x="16151383" y="12638957"/>
            <a:ext cx="4324588" cy="743086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Hash signature in function register (that is not in the quarantine list in registry)?</a:t>
            </a:r>
          </a:p>
        </p:txBody>
      </p:sp>
      <p:cxnSp>
        <p:nvCxnSpPr>
          <p:cNvPr id="31" name="Connector: Elbow 87">
            <a:extLst>
              <a:ext uri="{FF2B5EF4-FFF2-40B4-BE49-F238E27FC236}">
                <a16:creationId xmlns:a16="http://schemas.microsoft.com/office/drawing/2014/main" id="{EE2F8D08-1DAE-E1E7-9614-C130869A5F47}"/>
              </a:ext>
            </a:extLst>
          </p:cNvPr>
          <p:cNvCxnSpPr>
            <a:cxnSpLocks/>
            <a:stCxn id="29" idx="2"/>
            <a:endCxn id="63" idx="0"/>
          </p:cNvCxnSpPr>
          <p:nvPr/>
        </p:nvCxnSpPr>
        <p:spPr>
          <a:xfrm>
            <a:off x="5933364" y="5587099"/>
            <a:ext cx="3174" cy="374528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56FCB78-4ACC-8109-50EC-A2E2E85E9A27}"/>
              </a:ext>
            </a:extLst>
          </p:cNvPr>
          <p:cNvSpPr txBox="1"/>
          <p:nvPr/>
        </p:nvSpPr>
        <p:spPr>
          <a:xfrm>
            <a:off x="18191236" y="13377446"/>
            <a:ext cx="8297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2228C22-BC54-14A1-1DB9-2AC3DDDC8780}"/>
              </a:ext>
            </a:extLst>
          </p:cNvPr>
          <p:cNvCxnSpPr>
            <a:cxnSpLocks/>
            <a:stCxn id="120" idx="0"/>
            <a:endCxn id="158" idx="2"/>
          </p:cNvCxnSpPr>
          <p:nvPr/>
        </p:nvCxnSpPr>
        <p:spPr>
          <a:xfrm rot="5400000" flipH="1" flipV="1">
            <a:off x="11351155" y="11555540"/>
            <a:ext cx="7402200" cy="6341204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88936F9-B80A-90A8-3573-845E348D005D}"/>
              </a:ext>
            </a:extLst>
          </p:cNvPr>
          <p:cNvSpPr/>
          <p:nvPr/>
        </p:nvSpPr>
        <p:spPr>
          <a:xfrm>
            <a:off x="3767895" y="4292040"/>
            <a:ext cx="4330938" cy="44956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each BRD: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5" name="Connector: Elbow 87">
            <a:extLst>
              <a:ext uri="{FF2B5EF4-FFF2-40B4-BE49-F238E27FC236}">
                <a16:creationId xmlns:a16="http://schemas.microsoft.com/office/drawing/2014/main" id="{A5264AFF-5909-3AFA-9187-F9E714340FF2}"/>
              </a:ext>
            </a:extLst>
          </p:cNvPr>
          <p:cNvCxnSpPr>
            <a:cxnSpLocks/>
            <a:stCxn id="34" idx="2"/>
            <a:endCxn id="29" idx="0"/>
          </p:cNvCxnSpPr>
          <p:nvPr/>
        </p:nvCxnSpPr>
        <p:spPr>
          <a:xfrm>
            <a:off x="5933364" y="4741601"/>
            <a:ext cx="0" cy="395937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36" name="Diamond 35">
            <a:extLst>
              <a:ext uri="{FF2B5EF4-FFF2-40B4-BE49-F238E27FC236}">
                <a16:creationId xmlns:a16="http://schemas.microsoft.com/office/drawing/2014/main" id="{B22AE07B-BF4D-B933-8997-BB6ECA07569F}"/>
              </a:ext>
            </a:extLst>
          </p:cNvPr>
          <p:cNvSpPr/>
          <p:nvPr/>
        </p:nvSpPr>
        <p:spPr>
          <a:xfrm>
            <a:off x="2175834" y="10213852"/>
            <a:ext cx="7525058" cy="593471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End of BRDs?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642EFB66-333B-82D8-1EB9-F1271DE84A3F}"/>
              </a:ext>
            </a:extLst>
          </p:cNvPr>
          <p:cNvCxnSpPr>
            <a:cxnSpLocks/>
            <a:stCxn id="36" idx="1"/>
            <a:endCxn id="34" idx="1"/>
          </p:cNvCxnSpPr>
          <p:nvPr/>
        </p:nvCxnSpPr>
        <p:spPr>
          <a:xfrm rot="10800000" flipH="1">
            <a:off x="2175833" y="4516822"/>
            <a:ext cx="1592061" cy="5993767"/>
          </a:xfrm>
          <a:prstGeom prst="bentConnector3">
            <a:avLst>
              <a:gd name="adj1" fmla="val -14359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3621672-E1BE-E0FF-1C63-7B694986EFED}"/>
              </a:ext>
            </a:extLst>
          </p:cNvPr>
          <p:cNvSpPr txBox="1"/>
          <p:nvPr/>
        </p:nvSpPr>
        <p:spPr>
          <a:xfrm>
            <a:off x="6101983" y="12279276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C15CFA-C5E7-AD1D-A132-57A9CA2405EC}"/>
              </a:ext>
            </a:extLst>
          </p:cNvPr>
          <p:cNvSpPr txBox="1"/>
          <p:nvPr/>
        </p:nvSpPr>
        <p:spPr>
          <a:xfrm>
            <a:off x="20244014" y="14093751"/>
            <a:ext cx="3574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srgbClr val="CC00FF"/>
                </a:solidFill>
                <a:latin typeface="Arial"/>
              </a:rPr>
              <a:t>GPT Function Maker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B9F416B-9ECD-9F7F-7184-A871F2493A26}"/>
              </a:ext>
            </a:extLst>
          </p:cNvPr>
          <p:cNvGrpSpPr/>
          <p:nvPr/>
        </p:nvGrpSpPr>
        <p:grpSpPr>
          <a:xfrm>
            <a:off x="20896404" y="22852990"/>
            <a:ext cx="3551026" cy="771946"/>
            <a:chOff x="39533526" y="17475131"/>
            <a:chExt cx="4330938" cy="1019037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27894D0-0C4C-BC91-43E8-25CEB0AAFA18}"/>
                </a:ext>
              </a:extLst>
            </p:cNvPr>
            <p:cNvSpPr/>
            <p:nvPr/>
          </p:nvSpPr>
          <p:spPr>
            <a:xfrm>
              <a:off x="39533526" y="17497433"/>
              <a:ext cx="4330938" cy="996735"/>
            </a:xfrm>
            <a:prstGeom prst="roundRect">
              <a:avLst/>
            </a:prstGeom>
            <a:noFill/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Error: Escalate to Human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(Write a report why it failed. E.g., could not code well. Or The BRD is conflicting itself.)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9169400-90ED-0D0B-79C4-1363558EE28B}"/>
                </a:ext>
              </a:extLst>
            </p:cNvPr>
            <p:cNvSpPr txBox="1"/>
            <p:nvPr/>
          </p:nvSpPr>
          <p:spPr>
            <a:xfrm>
              <a:off x="42212485" y="17475131"/>
              <a:ext cx="425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  </a:t>
              </a:r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47328B1-C410-975A-0460-B04BB3DE97DD}"/>
              </a:ext>
            </a:extLst>
          </p:cNvPr>
          <p:cNvSpPr/>
          <p:nvPr/>
        </p:nvSpPr>
        <p:spPr>
          <a:xfrm>
            <a:off x="17060294" y="21423805"/>
            <a:ext cx="2505124" cy="26306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Run task function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ED27EE2C-F2B7-4259-E54C-0C0100B2E02D}"/>
              </a:ext>
            </a:extLst>
          </p:cNvPr>
          <p:cNvSpPr/>
          <p:nvPr/>
        </p:nvSpPr>
        <p:spPr>
          <a:xfrm>
            <a:off x="16786662" y="22081032"/>
            <a:ext cx="3054928" cy="494958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Hard crash?</a:t>
            </a:r>
          </a:p>
        </p:txBody>
      </p:sp>
      <p:cxnSp>
        <p:nvCxnSpPr>
          <p:cNvPr id="45" name="Connector: Elbow 87">
            <a:extLst>
              <a:ext uri="{FF2B5EF4-FFF2-40B4-BE49-F238E27FC236}">
                <a16:creationId xmlns:a16="http://schemas.microsoft.com/office/drawing/2014/main" id="{98600531-71C3-BC06-C980-7BD70BA113A6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8312856" y="21686866"/>
            <a:ext cx="1270" cy="394166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C110048-5D99-9B4F-7B5E-3CA9E964CD81}"/>
              </a:ext>
            </a:extLst>
          </p:cNvPr>
          <p:cNvSpPr txBox="1"/>
          <p:nvPr/>
        </p:nvSpPr>
        <p:spPr>
          <a:xfrm>
            <a:off x="16522104" y="22038227"/>
            <a:ext cx="463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B9AEA0-738C-DF81-42AC-FBF59FF65979}"/>
              </a:ext>
            </a:extLst>
          </p:cNvPr>
          <p:cNvSpPr txBox="1"/>
          <p:nvPr/>
        </p:nvSpPr>
        <p:spPr>
          <a:xfrm>
            <a:off x="22951100" y="8344328"/>
            <a:ext cx="1734704" cy="400110"/>
          </a:xfrm>
          <a:prstGeom prst="rect">
            <a:avLst/>
          </a:prstGeom>
          <a:solidFill>
            <a:srgbClr val="52CDEF">
              <a:lumMod val="60000"/>
              <a:lumOff val="4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</a:rPr>
              <a:t>Agent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5B500163-2843-83B8-5587-E599DF5ACDB9}"/>
              </a:ext>
            </a:extLst>
          </p:cNvPr>
          <p:cNvCxnSpPr>
            <a:cxnSpLocks/>
            <a:stCxn id="49" idx="3"/>
            <a:endCxn id="127" idx="3"/>
          </p:cNvCxnSpPr>
          <p:nvPr/>
        </p:nvCxnSpPr>
        <p:spPr>
          <a:xfrm flipH="1" flipV="1">
            <a:off x="19841590" y="18306803"/>
            <a:ext cx="135136" cy="4967551"/>
          </a:xfrm>
          <a:prstGeom prst="bentConnector3">
            <a:avLst>
              <a:gd name="adj1" fmla="val -169163"/>
            </a:avLst>
          </a:prstGeom>
          <a:noFill/>
          <a:ln w="76200" cap="sq" cmpd="sng" algn="ctr">
            <a:solidFill>
              <a:srgbClr val="00B050"/>
            </a:solidFill>
            <a:prstDash val="solid"/>
            <a:tailEnd type="triangle"/>
          </a:ln>
          <a:effectLst/>
        </p:spPr>
      </p:cxnSp>
      <p:sp>
        <p:nvSpPr>
          <p:cNvPr id="49" name="Diamond 48">
            <a:extLst>
              <a:ext uri="{FF2B5EF4-FFF2-40B4-BE49-F238E27FC236}">
                <a16:creationId xmlns:a16="http://schemas.microsoft.com/office/drawing/2014/main" id="{621EAAEB-0FDD-1004-1B16-6F9301B3837D}"/>
              </a:ext>
            </a:extLst>
          </p:cNvPr>
          <p:cNvSpPr/>
          <p:nvPr/>
        </p:nvSpPr>
        <p:spPr>
          <a:xfrm>
            <a:off x="16655336" y="22913550"/>
            <a:ext cx="3321390" cy="721607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User requests to terminate?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DB9CE25-BDA3-9335-E724-60C1CBA5BD68}"/>
              </a:ext>
            </a:extLst>
          </p:cNvPr>
          <p:cNvGrpSpPr/>
          <p:nvPr/>
        </p:nvGrpSpPr>
        <p:grpSpPr>
          <a:xfrm>
            <a:off x="17212787" y="24045538"/>
            <a:ext cx="2201916" cy="385126"/>
            <a:chOff x="12799260" y="4495800"/>
            <a:chExt cx="18288000" cy="676459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91501B1-FFBE-CE61-5B99-210CF8C49349}"/>
                </a:ext>
              </a:extLst>
            </p:cNvPr>
            <p:cNvSpPr/>
            <p:nvPr/>
          </p:nvSpPr>
          <p:spPr>
            <a:xfrm>
              <a:off x="12799260" y="4495800"/>
              <a:ext cx="18288000" cy="676459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END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(terminate BRD worker process)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865AAA2-4F40-BD14-3220-89BD579317FC}"/>
                </a:ext>
              </a:extLst>
            </p:cNvPr>
            <p:cNvSpPr txBox="1"/>
            <p:nvPr/>
          </p:nvSpPr>
          <p:spPr>
            <a:xfrm>
              <a:off x="16916401" y="4501979"/>
              <a:ext cx="1143002" cy="459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cxnSp>
        <p:nvCxnSpPr>
          <p:cNvPr id="53" name="Connector: Elbow 87">
            <a:extLst>
              <a:ext uri="{FF2B5EF4-FFF2-40B4-BE49-F238E27FC236}">
                <a16:creationId xmlns:a16="http://schemas.microsoft.com/office/drawing/2014/main" id="{13E5482F-83AE-2BDA-4055-BB49E71D4D8D}"/>
              </a:ext>
            </a:extLst>
          </p:cNvPr>
          <p:cNvCxnSpPr>
            <a:cxnSpLocks/>
            <a:stCxn id="49" idx="2"/>
            <a:endCxn id="51" idx="0"/>
          </p:cNvCxnSpPr>
          <p:nvPr/>
        </p:nvCxnSpPr>
        <p:spPr>
          <a:xfrm flipH="1">
            <a:off x="18313745" y="23635157"/>
            <a:ext cx="2286" cy="410381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5201052-E3BB-AD98-87DC-B54563EE8823}"/>
              </a:ext>
            </a:extLst>
          </p:cNvPr>
          <p:cNvSpPr txBox="1"/>
          <p:nvPr/>
        </p:nvSpPr>
        <p:spPr>
          <a:xfrm>
            <a:off x="18279274" y="23586397"/>
            <a:ext cx="6578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55" name="Connector: Elbow 87">
            <a:extLst>
              <a:ext uri="{FF2B5EF4-FFF2-40B4-BE49-F238E27FC236}">
                <a16:creationId xmlns:a16="http://schemas.microsoft.com/office/drawing/2014/main" id="{E771DABB-BAEE-676B-4B73-9013BAFEE655}"/>
              </a:ext>
            </a:extLst>
          </p:cNvPr>
          <p:cNvCxnSpPr>
            <a:cxnSpLocks/>
            <a:stCxn id="66" idx="3"/>
            <a:endCxn id="137" idx="0"/>
          </p:cNvCxnSpPr>
          <p:nvPr/>
        </p:nvCxnSpPr>
        <p:spPr>
          <a:xfrm>
            <a:off x="9678066" y="7833284"/>
            <a:ext cx="8635498" cy="332181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E67F56E-1789-DE22-75C5-071664081A42}"/>
              </a:ext>
            </a:extLst>
          </p:cNvPr>
          <p:cNvGrpSpPr/>
          <p:nvPr/>
        </p:nvGrpSpPr>
        <p:grpSpPr>
          <a:xfrm>
            <a:off x="4713122" y="7585146"/>
            <a:ext cx="2440696" cy="499318"/>
            <a:chOff x="19780736" y="18469318"/>
            <a:chExt cx="2440696" cy="499318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308FFDED-BB37-CAA3-D66F-50E11538DF56}"/>
                </a:ext>
              </a:extLst>
            </p:cNvPr>
            <p:cNvSpPr/>
            <p:nvPr/>
          </p:nvSpPr>
          <p:spPr>
            <a:xfrm>
              <a:off x="19780736" y="18469318"/>
              <a:ext cx="2440696" cy="499318"/>
            </a:xfrm>
            <a:prstGeom prst="roundRect">
              <a:avLst/>
            </a:prstGeom>
            <a:solidFill>
              <a:srgbClr val="52CDEF">
                <a:lumMod val="60000"/>
                <a:lumOff val="4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Launch Agent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278D56B-D960-81EB-0074-9FE7185A185F}"/>
                </a:ext>
              </a:extLst>
            </p:cNvPr>
            <p:cNvSpPr txBox="1"/>
            <p:nvPr/>
          </p:nvSpPr>
          <p:spPr>
            <a:xfrm>
              <a:off x="21101451" y="18480042"/>
              <a:ext cx="4254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rPr>
                <a:t>  </a:t>
              </a:r>
            </a:p>
          </p:txBody>
        </p:sp>
      </p:grpSp>
      <p:cxnSp>
        <p:nvCxnSpPr>
          <p:cNvPr id="59" name="Connector: Elbow 87">
            <a:extLst>
              <a:ext uri="{FF2B5EF4-FFF2-40B4-BE49-F238E27FC236}">
                <a16:creationId xmlns:a16="http://schemas.microsoft.com/office/drawing/2014/main" id="{B4E5F6CA-D25C-0FCC-B4E0-AFDD99784FDD}"/>
              </a:ext>
            </a:extLst>
          </p:cNvPr>
          <p:cNvCxnSpPr>
            <a:cxnSpLocks/>
            <a:stCxn id="36" idx="2"/>
            <a:endCxn id="60" idx="0"/>
          </p:cNvCxnSpPr>
          <p:nvPr/>
        </p:nvCxnSpPr>
        <p:spPr>
          <a:xfrm flipH="1">
            <a:off x="5936539" y="10807323"/>
            <a:ext cx="1824" cy="632155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60" name="Diamond 59">
            <a:extLst>
              <a:ext uri="{FF2B5EF4-FFF2-40B4-BE49-F238E27FC236}">
                <a16:creationId xmlns:a16="http://schemas.microsoft.com/office/drawing/2014/main" id="{D57D764E-5C81-C99A-48BB-F78E3BB91416}"/>
              </a:ext>
            </a:extLst>
          </p:cNvPr>
          <p:cNvSpPr/>
          <p:nvPr/>
        </p:nvSpPr>
        <p:spPr>
          <a:xfrm>
            <a:off x="3985261" y="11439478"/>
            <a:ext cx="3902556" cy="721607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User requests to terminate?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3824715-F42D-54C8-CF9A-7508083AE32B}"/>
              </a:ext>
            </a:extLst>
          </p:cNvPr>
          <p:cNvCxnSpPr>
            <a:cxnSpLocks/>
            <a:stCxn id="60" idx="1"/>
            <a:endCxn id="132" idx="1"/>
          </p:cNvCxnSpPr>
          <p:nvPr/>
        </p:nvCxnSpPr>
        <p:spPr>
          <a:xfrm rot="10800000">
            <a:off x="3762561" y="2908636"/>
            <a:ext cx="222700" cy="8891647"/>
          </a:xfrm>
          <a:prstGeom prst="bentConnector3">
            <a:avLst>
              <a:gd name="adj1" fmla="val 1315235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D81ABA9-0CC8-5BE3-131C-4F272F18530A}"/>
              </a:ext>
            </a:extLst>
          </p:cNvPr>
          <p:cNvSpPr txBox="1"/>
          <p:nvPr/>
        </p:nvSpPr>
        <p:spPr>
          <a:xfrm>
            <a:off x="3118088" y="11437693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63" name="Diamond 62">
            <a:extLst>
              <a:ext uri="{FF2B5EF4-FFF2-40B4-BE49-F238E27FC236}">
                <a16:creationId xmlns:a16="http://schemas.microsoft.com/office/drawing/2014/main" id="{43F406F2-8E94-5E30-F1DE-72C08D605038}"/>
              </a:ext>
            </a:extLst>
          </p:cNvPr>
          <p:cNvSpPr/>
          <p:nvPr/>
        </p:nvSpPr>
        <p:spPr>
          <a:xfrm>
            <a:off x="2898661" y="5961627"/>
            <a:ext cx="6075754" cy="743086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 there any agent working on this BRD X already?</a:t>
            </a:r>
          </a:p>
        </p:txBody>
      </p:sp>
      <p:cxnSp>
        <p:nvCxnSpPr>
          <p:cNvPr id="64" name="Connector: Elbow 87">
            <a:extLst>
              <a:ext uri="{FF2B5EF4-FFF2-40B4-BE49-F238E27FC236}">
                <a16:creationId xmlns:a16="http://schemas.microsoft.com/office/drawing/2014/main" id="{1A451BC5-4B68-3AB9-3F57-C16254BD7E50}"/>
              </a:ext>
            </a:extLst>
          </p:cNvPr>
          <p:cNvCxnSpPr>
            <a:cxnSpLocks/>
            <a:stCxn id="63" idx="2"/>
            <a:endCxn id="57" idx="0"/>
          </p:cNvCxnSpPr>
          <p:nvPr/>
        </p:nvCxnSpPr>
        <p:spPr>
          <a:xfrm flipH="1">
            <a:off x="5933470" y="6704713"/>
            <a:ext cx="3068" cy="88043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D643256-F0AD-1886-5FEB-F8CF12DD5CB1}"/>
              </a:ext>
            </a:extLst>
          </p:cNvPr>
          <p:cNvSpPr txBox="1"/>
          <p:nvPr/>
        </p:nvSpPr>
        <p:spPr>
          <a:xfrm>
            <a:off x="6019846" y="6801083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D4A87E4-EBAD-082E-C2D6-F09A9CA61E2A}"/>
              </a:ext>
            </a:extLst>
          </p:cNvPr>
          <p:cNvSpPr/>
          <p:nvPr/>
        </p:nvSpPr>
        <p:spPr>
          <a:xfrm>
            <a:off x="8092440" y="7162802"/>
            <a:ext cx="1585626" cy="1340964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Register: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agent is working on BRD X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Connector: Elbow 87">
            <a:extLst>
              <a:ext uri="{FF2B5EF4-FFF2-40B4-BE49-F238E27FC236}">
                <a16:creationId xmlns:a16="http://schemas.microsoft.com/office/drawing/2014/main" id="{63E44F0C-A6F2-0B8B-5917-F994FD7F1656}"/>
              </a:ext>
            </a:extLst>
          </p:cNvPr>
          <p:cNvCxnSpPr>
            <a:cxnSpLocks/>
            <a:stCxn id="57" idx="3"/>
            <a:endCxn id="66" idx="1"/>
          </p:cNvCxnSpPr>
          <p:nvPr/>
        </p:nvCxnSpPr>
        <p:spPr>
          <a:xfrm flipV="1">
            <a:off x="7153818" y="7833284"/>
            <a:ext cx="938622" cy="1521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8724FC0-5AF1-95C1-1ED6-4CA33BA41621}"/>
              </a:ext>
            </a:extLst>
          </p:cNvPr>
          <p:cNvSpPr/>
          <p:nvPr/>
        </p:nvSpPr>
        <p:spPr>
          <a:xfrm>
            <a:off x="27779827" y="22778132"/>
            <a:ext cx="7123598" cy="943962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(1) Human updates the BRD (which will trigger “Hash signature in function register?” part to be False)</a:t>
            </a:r>
          </a:p>
        </p:txBody>
      </p:sp>
      <p:cxnSp>
        <p:nvCxnSpPr>
          <p:cNvPr id="69" name="Connector: Elbow 87">
            <a:extLst>
              <a:ext uri="{FF2B5EF4-FFF2-40B4-BE49-F238E27FC236}">
                <a16:creationId xmlns:a16="http://schemas.microsoft.com/office/drawing/2014/main" id="{4303B419-E5B6-B3F4-877A-E555DC5CEAE6}"/>
              </a:ext>
            </a:extLst>
          </p:cNvPr>
          <p:cNvCxnSpPr>
            <a:cxnSpLocks/>
            <a:stCxn id="41" idx="3"/>
            <a:endCxn id="68" idx="1"/>
          </p:cNvCxnSpPr>
          <p:nvPr/>
        </p:nvCxnSpPr>
        <p:spPr>
          <a:xfrm>
            <a:off x="24447430" y="23247410"/>
            <a:ext cx="3332397" cy="270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ysDot"/>
            <a:tailEnd type="triangle"/>
          </a:ln>
          <a:effectLst/>
        </p:spPr>
      </p:cxnSp>
      <p:cxnSp>
        <p:nvCxnSpPr>
          <p:cNvPr id="70" name="Connector: Elbow 87">
            <a:extLst>
              <a:ext uri="{FF2B5EF4-FFF2-40B4-BE49-F238E27FC236}">
                <a16:creationId xmlns:a16="http://schemas.microsoft.com/office/drawing/2014/main" id="{D9BAE5FB-1B3B-178E-B6D9-F120E6CA9FF9}"/>
              </a:ext>
            </a:extLst>
          </p:cNvPr>
          <p:cNvCxnSpPr>
            <a:cxnSpLocks/>
            <a:stCxn id="68" idx="0"/>
            <a:endCxn id="5" idx="2"/>
          </p:cNvCxnSpPr>
          <p:nvPr/>
        </p:nvCxnSpPr>
        <p:spPr>
          <a:xfrm rot="16200000" flipV="1">
            <a:off x="29120929" y="20557435"/>
            <a:ext cx="862315" cy="3579080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A2D14E5C-ADFB-3CAB-A3EC-F8DAB825F200}"/>
              </a:ext>
            </a:extLst>
          </p:cNvPr>
          <p:cNvCxnSpPr>
            <a:cxnSpLocks/>
            <a:stCxn id="63" idx="1"/>
            <a:endCxn id="97" idx="2"/>
          </p:cNvCxnSpPr>
          <p:nvPr/>
        </p:nvCxnSpPr>
        <p:spPr>
          <a:xfrm rot="10800000" flipH="1" flipV="1">
            <a:off x="2898660" y="6333169"/>
            <a:ext cx="2936195" cy="2956575"/>
          </a:xfrm>
          <a:prstGeom prst="bentConnector3">
            <a:avLst>
              <a:gd name="adj1" fmla="val -7786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106D71A-0BEC-13B3-392C-694A475A003A}"/>
              </a:ext>
            </a:extLst>
          </p:cNvPr>
          <p:cNvSpPr txBox="1"/>
          <p:nvPr/>
        </p:nvSpPr>
        <p:spPr>
          <a:xfrm>
            <a:off x="2341911" y="5769178"/>
            <a:ext cx="1398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C6028C-2E54-585C-15FD-19C638FD1AE3}"/>
              </a:ext>
            </a:extLst>
          </p:cNvPr>
          <p:cNvSpPr txBox="1"/>
          <p:nvPr/>
        </p:nvSpPr>
        <p:spPr>
          <a:xfrm>
            <a:off x="18292969" y="22575990"/>
            <a:ext cx="574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092B615-58A0-6761-FD45-BFCD684B1D6E}"/>
              </a:ext>
            </a:extLst>
          </p:cNvPr>
          <p:cNvSpPr txBox="1"/>
          <p:nvPr/>
        </p:nvSpPr>
        <p:spPr>
          <a:xfrm>
            <a:off x="18458252" y="20352349"/>
            <a:ext cx="563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75" name="Connector: Elbow 87">
            <a:extLst>
              <a:ext uri="{FF2B5EF4-FFF2-40B4-BE49-F238E27FC236}">
                <a16:creationId xmlns:a16="http://schemas.microsoft.com/office/drawing/2014/main" id="{1F58AF0C-DE42-6077-C697-05BFA0F805EB}"/>
              </a:ext>
            </a:extLst>
          </p:cNvPr>
          <p:cNvCxnSpPr>
            <a:cxnSpLocks/>
            <a:stCxn id="108" idx="2"/>
            <a:endCxn id="43" idx="0"/>
          </p:cNvCxnSpPr>
          <p:nvPr/>
        </p:nvCxnSpPr>
        <p:spPr>
          <a:xfrm flipH="1">
            <a:off x="18312856" y="20974313"/>
            <a:ext cx="1808" cy="449492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DD91CD0-BEFB-D79A-D892-F6F77691C4BD}"/>
              </a:ext>
            </a:extLst>
          </p:cNvPr>
          <p:cNvSpPr txBox="1"/>
          <p:nvPr/>
        </p:nvSpPr>
        <p:spPr>
          <a:xfrm>
            <a:off x="16434418" y="19635308"/>
            <a:ext cx="820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1E61221B-F371-4C45-109F-71CEEE07AD58}"/>
              </a:ext>
            </a:extLst>
          </p:cNvPr>
          <p:cNvCxnSpPr>
            <a:cxnSpLocks/>
            <a:stCxn id="107" idx="1"/>
            <a:endCxn id="49" idx="1"/>
          </p:cNvCxnSpPr>
          <p:nvPr/>
        </p:nvCxnSpPr>
        <p:spPr>
          <a:xfrm rot="10800000" flipV="1">
            <a:off x="16655336" y="19941060"/>
            <a:ext cx="431344" cy="3333294"/>
          </a:xfrm>
          <a:prstGeom prst="bentConnector3">
            <a:avLst>
              <a:gd name="adj1" fmla="val 188328"/>
            </a:avLst>
          </a:prstGeom>
          <a:noFill/>
          <a:ln w="76200" cap="sq" cmpd="sng" algn="ctr">
            <a:solidFill>
              <a:srgbClr val="00B050"/>
            </a:solidFill>
            <a:prstDash val="solid"/>
            <a:tailEnd type="triangle"/>
          </a:ln>
          <a:effectLst/>
        </p:spPr>
      </p:cxnSp>
      <p:cxnSp>
        <p:nvCxnSpPr>
          <p:cNvPr id="78" name="Connector: Elbow 87">
            <a:extLst>
              <a:ext uri="{FF2B5EF4-FFF2-40B4-BE49-F238E27FC236}">
                <a16:creationId xmlns:a16="http://schemas.microsoft.com/office/drawing/2014/main" id="{4ABD46BD-124C-0A5E-0069-10986516EE19}"/>
              </a:ext>
            </a:extLst>
          </p:cNvPr>
          <p:cNvCxnSpPr>
            <a:cxnSpLocks/>
            <a:stCxn id="68" idx="0"/>
            <a:endCxn id="81" idx="2"/>
          </p:cNvCxnSpPr>
          <p:nvPr/>
        </p:nvCxnSpPr>
        <p:spPr>
          <a:xfrm rot="5400000" flipH="1" flipV="1">
            <a:off x="31619281" y="21638163"/>
            <a:ext cx="862315" cy="1417625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79" name="Connector: Elbow 87">
            <a:extLst>
              <a:ext uri="{FF2B5EF4-FFF2-40B4-BE49-F238E27FC236}">
                <a16:creationId xmlns:a16="http://schemas.microsoft.com/office/drawing/2014/main" id="{76E23DB5-63B1-93EE-7F8A-014F3358B88F}"/>
              </a:ext>
            </a:extLst>
          </p:cNvPr>
          <p:cNvCxnSpPr>
            <a:cxnSpLocks/>
            <a:stCxn id="41" idx="2"/>
            <a:endCxn id="115" idx="0"/>
          </p:cNvCxnSpPr>
          <p:nvPr/>
        </p:nvCxnSpPr>
        <p:spPr>
          <a:xfrm rot="5400000">
            <a:off x="22456710" y="23828883"/>
            <a:ext cx="419155" cy="11261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C3E304A-DAA3-4455-2C11-767878B774AA}"/>
              </a:ext>
            </a:extLst>
          </p:cNvPr>
          <p:cNvGrpSpPr/>
          <p:nvPr/>
        </p:nvGrpSpPr>
        <p:grpSpPr>
          <a:xfrm>
            <a:off x="30444872" y="19009804"/>
            <a:ext cx="4628758" cy="2906012"/>
            <a:chOff x="37005017" y="5182646"/>
            <a:chExt cx="4628758" cy="3743534"/>
          </a:xfrm>
        </p:grpSpPr>
        <p:pic>
          <p:nvPicPr>
            <p:cNvPr id="81" name="Picture 2" descr="Folder - Free vector icons on creazilla.com">
              <a:extLst>
                <a:ext uri="{FF2B5EF4-FFF2-40B4-BE49-F238E27FC236}">
                  <a16:creationId xmlns:a16="http://schemas.microsoft.com/office/drawing/2014/main" id="{460A8A9C-A3BA-92FE-C6F5-D2FEFBED3C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18" t="16444" r="8518" b="16458"/>
            <a:stretch/>
          </p:blipFill>
          <p:spPr bwMode="auto">
            <a:xfrm>
              <a:off x="37005017" y="5182646"/>
              <a:ext cx="4628758" cy="3743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8D3D4FD-31E3-D20B-5DA7-F175FAB7E269}"/>
                </a:ext>
              </a:extLst>
            </p:cNvPr>
            <p:cNvGrpSpPr/>
            <p:nvPr/>
          </p:nvGrpSpPr>
          <p:grpSpPr>
            <a:xfrm>
              <a:off x="37095705" y="5765589"/>
              <a:ext cx="4327829" cy="1133062"/>
              <a:chOff x="6463717" y="5375580"/>
              <a:chExt cx="4327829" cy="2269153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8046FE8-CCBF-D599-BCF5-E2CD732C707A}"/>
                  </a:ext>
                </a:extLst>
              </p:cNvPr>
              <p:cNvSpPr txBox="1"/>
              <p:nvPr/>
            </p:nvSpPr>
            <p:spPr>
              <a:xfrm>
                <a:off x="6463717" y="5375580"/>
                <a:ext cx="3080334" cy="1047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2800" b="1" dirty="0">
                    <a:solidFill>
                      <a:prstClr val="black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./</a:t>
                </a:r>
                <a:r>
                  <a:rPr lang="en-US" sz="2800" b="1" dirty="0" err="1">
                    <a:solidFill>
                      <a:prstClr val="black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saved_functions</a:t>
                </a:r>
                <a:r>
                  <a:rPr lang="en-US" sz="2800" b="1" dirty="0">
                    <a:solidFill>
                      <a:prstClr val="black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/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84C79DB-9977-D896-332F-45839780EC45}"/>
                  </a:ext>
                </a:extLst>
              </p:cNvPr>
              <p:cNvSpPr txBox="1"/>
              <p:nvPr/>
            </p:nvSpPr>
            <p:spPr>
              <a:xfrm>
                <a:off x="6590784" y="6850714"/>
                <a:ext cx="4200762" cy="794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>
                  <a:defRPr/>
                </a:pPr>
                <a:r>
                  <a:rPr lang="en-US" sz="1400" dirty="0" err="1">
                    <a:solidFill>
                      <a:prstClr val="black">
                        <a:lumMod val="50000"/>
                      </a:prstClr>
                    </a:solidFill>
                    <a:latin typeface="Arial"/>
                  </a:rPr>
                  <a:t>registry.json</a:t>
                </a:r>
                <a:endParaRPr lang="en-US" sz="1400" dirty="0">
                  <a:solidFill>
                    <a:prstClr val="black">
                      <a:lumMod val="50000"/>
                    </a:prstClr>
                  </a:solidFill>
                  <a:latin typeface="Arial"/>
                </a:endParaRPr>
              </a:p>
            </p:txBody>
          </p:sp>
        </p:grpSp>
        <p:pic>
          <p:nvPicPr>
            <p:cNvPr id="83" name="Picture 6" descr="Folder Icon | Flatastic 1 Iconpack | Custom Icon Design">
              <a:extLst>
                <a:ext uri="{FF2B5EF4-FFF2-40B4-BE49-F238E27FC236}">
                  <a16:creationId xmlns:a16="http://schemas.microsoft.com/office/drawing/2014/main" id="{CFB123FF-F4A2-8415-30AB-ABE970676A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750" b="11485"/>
            <a:stretch/>
          </p:blipFill>
          <p:spPr bwMode="auto">
            <a:xfrm flipH="1">
              <a:off x="37265408" y="6922788"/>
              <a:ext cx="2701899" cy="954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9145AF1-AA67-571D-627E-B8F007EE28E4}"/>
                </a:ext>
              </a:extLst>
            </p:cNvPr>
            <p:cNvSpPr txBox="1"/>
            <p:nvPr/>
          </p:nvSpPr>
          <p:spPr>
            <a:xfrm>
              <a:off x="37265408" y="7327239"/>
              <a:ext cx="3001646" cy="396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>
                <a:defRPr/>
              </a:pPr>
              <a:r>
                <a:rPr lang="en-US" sz="1400" dirty="0" err="1">
                  <a:solidFill>
                    <a:srgbClr val="CC00FF"/>
                  </a:solidFill>
                  <a:latin typeface="Arial"/>
                </a:rPr>
                <a:t>BRD_tolerate_OCR_mistakes</a:t>
              </a:r>
              <a:endParaRPr lang="en-US" sz="1400" dirty="0">
                <a:solidFill>
                  <a:srgbClr val="CC00FF"/>
                </a:solidFill>
                <a:latin typeface="Arial"/>
              </a:endParaRPr>
            </a:p>
          </p:txBody>
        </p:sp>
        <p:pic>
          <p:nvPicPr>
            <p:cNvPr id="85" name="Picture 6" descr="Folder Icon | Flatastic 1 Iconpack | Custom Icon Design">
              <a:extLst>
                <a:ext uri="{FF2B5EF4-FFF2-40B4-BE49-F238E27FC236}">
                  <a16:creationId xmlns:a16="http://schemas.microsoft.com/office/drawing/2014/main" id="{73C748F6-0EBE-ECBB-5F87-D9B453E27A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750" b="11485"/>
            <a:stretch/>
          </p:blipFill>
          <p:spPr bwMode="auto">
            <a:xfrm flipH="1">
              <a:off x="37287958" y="7930211"/>
              <a:ext cx="2701899" cy="954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7C3FF9B-8CA0-E9D9-5F3E-37D2A068EA70}"/>
                </a:ext>
              </a:extLst>
            </p:cNvPr>
            <p:cNvSpPr txBox="1"/>
            <p:nvPr/>
          </p:nvSpPr>
          <p:spPr>
            <a:xfrm>
              <a:off x="37287958" y="8334663"/>
              <a:ext cx="3001646" cy="396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>
                <a:defRPr/>
              </a:pPr>
              <a:r>
                <a:rPr lang="en-US" sz="1400" dirty="0" err="1">
                  <a:solidFill>
                    <a:prstClr val="black">
                      <a:lumMod val="50000"/>
                    </a:prstClr>
                  </a:solidFill>
                  <a:latin typeface="Arial"/>
                </a:rPr>
                <a:t>BRD_word_count</a:t>
              </a:r>
              <a:endParaRPr lang="en-US" sz="1400" dirty="0">
                <a:solidFill>
                  <a:srgbClr val="CC00FF"/>
                </a:solidFill>
                <a:latin typeface="Arial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6529DD92-8953-182D-B0AC-3A42A67F9C83}"/>
              </a:ext>
            </a:extLst>
          </p:cNvPr>
          <p:cNvSpPr txBox="1"/>
          <p:nvPr/>
        </p:nvSpPr>
        <p:spPr>
          <a:xfrm>
            <a:off x="6788021" y="7097887"/>
            <a:ext cx="166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400" dirty="0">
                <a:solidFill>
                  <a:prstClr val="black">
                    <a:lumMod val="50000"/>
                  </a:prstClr>
                </a:solidFill>
                <a:latin typeface="Arial"/>
              </a:rPr>
              <a:t>Hand over </a:t>
            </a:r>
          </a:p>
          <a:p>
            <a:pPr algn="ctr" defTabSz="914400">
              <a:defRPr/>
            </a:pPr>
            <a:r>
              <a:rPr lang="en-US" sz="1400" dirty="0">
                <a:solidFill>
                  <a:prstClr val="black">
                    <a:lumMod val="50000"/>
                  </a:prstClr>
                </a:solidFill>
                <a:latin typeface="Arial"/>
              </a:rPr>
              <a:t>Semaphore</a:t>
            </a:r>
            <a:endParaRPr lang="en-US" sz="14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BB03E8-0D67-32A2-5433-8CAA7A7697C8}"/>
              </a:ext>
            </a:extLst>
          </p:cNvPr>
          <p:cNvSpPr txBox="1"/>
          <p:nvPr/>
        </p:nvSpPr>
        <p:spPr>
          <a:xfrm>
            <a:off x="1996441" y="10053799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8CE48DB-F0FC-0E8B-DEAF-BE699DCF8D49}"/>
              </a:ext>
            </a:extLst>
          </p:cNvPr>
          <p:cNvSpPr txBox="1"/>
          <p:nvPr/>
        </p:nvSpPr>
        <p:spPr>
          <a:xfrm>
            <a:off x="5967285" y="10967376"/>
            <a:ext cx="820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3C97C1DA-4FFC-147D-7A8A-1401A9839AAF}"/>
              </a:ext>
            </a:extLst>
          </p:cNvPr>
          <p:cNvSpPr/>
          <p:nvPr/>
        </p:nvSpPr>
        <p:spPr>
          <a:xfrm>
            <a:off x="33510764" y="1629465"/>
            <a:ext cx="10062392" cy="2632801"/>
          </a:xfrm>
          <a:prstGeom prst="roundRect">
            <a:avLst>
              <a:gd name="adj" fmla="val 0"/>
            </a:avLst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lvl="0" defTabSz="914400"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*Note: </a:t>
            </a:r>
            <a:r>
              <a:rPr lang="en-US" sz="1100" dirty="0"/>
              <a:t>Each Agent has its own local BRD-defined rule. There is no global workflow coordinator that controls the business logic or explicitly sequences the Agents. </a:t>
            </a:r>
            <a:r>
              <a:rPr lang="en-US" sz="1100" dirty="0" err="1"/>
              <a:t>JobManager</a:t>
            </a:r>
            <a:r>
              <a:rPr lang="en-US" sz="1100" dirty="0"/>
              <a:t> only manages worker lifecycle, concurrency, logging, and shared infrastructure. Each Agent obtains its own data from a designated source, processes it according to its BRD, and writes the result to a designated destination, such as a database or temporary shared location. If another Agent needs that result, it can obtain it from that location. Therefore, Agent-to-Agent coordination can occur through shared read/write locations rather than through a central workflow controller.</a:t>
            </a:r>
          </a:p>
          <a:p>
            <a:pPr lvl="0" defTabSz="914400"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Rules:</a:t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Each Agent processes one job record at a time. A worker may process multiple pending jobs sequentially.  </a:t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Generated functions receive narrow wrappers through my_tools; raw GPT client, semaphore, and shared state are not exposed.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/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/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/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/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/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/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Naming convention: database/job-field names should use lowercase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snake_case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with no spaces. This is a project convention; it is not currently fully enforced by Python.  </a:t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DEBUGGING MODE: Set, for example,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only_list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=["BRD_Email_Routing.txt"] to run only selected BRDs in debug mode. This enables more detailed logging, including the GPT-generated source response.  </a:t>
            </a:r>
          </a:p>
          <a:p>
            <a:pPr marL="457200" lvl="0" indent="-457200" defTabSz="914400">
              <a:buFont typeface="+mj-lt"/>
              <a:buAutoNum type="arabicPeriod"/>
              <a:defRPr/>
            </a:pP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exclude_list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can temporarily exclude selected BRDs. If both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only_list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and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exclude_list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are supplied, both filters apply: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exclude_list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is applied first, and </a:t>
            </a:r>
            <a:r>
              <a:rPr lang="en-US" sz="1100" kern="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only_list</a:t>
            </a:r>
            <a:r>
              <a:rPr lang="en-US" sz="11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 then narrows the remaining BRDs.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1BA1CDB7-F7E9-3D5A-C758-6343CB72AF1B}"/>
              </a:ext>
            </a:extLst>
          </p:cNvPr>
          <p:cNvSpPr/>
          <p:nvPr/>
        </p:nvSpPr>
        <p:spPr>
          <a:xfrm>
            <a:off x="16152330" y="11369934"/>
            <a:ext cx="4324588" cy="743086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 there any hand-crafted function (that is not in the quarantine list in registry)?</a:t>
            </a:r>
          </a:p>
        </p:txBody>
      </p:sp>
      <p:cxnSp>
        <p:nvCxnSpPr>
          <p:cNvPr id="94" name="Connector: Elbow 109">
            <a:extLst>
              <a:ext uri="{FF2B5EF4-FFF2-40B4-BE49-F238E27FC236}">
                <a16:creationId xmlns:a16="http://schemas.microsoft.com/office/drawing/2014/main" id="{0F13DFAB-796C-9FDE-E9E9-F72DE3EFC046}"/>
              </a:ext>
            </a:extLst>
          </p:cNvPr>
          <p:cNvCxnSpPr>
            <a:cxnSpLocks/>
            <a:stCxn id="93" idx="2"/>
            <a:endCxn id="30" idx="0"/>
          </p:cNvCxnSpPr>
          <p:nvPr/>
        </p:nvCxnSpPr>
        <p:spPr>
          <a:xfrm flipH="1">
            <a:off x="18313677" y="12113020"/>
            <a:ext cx="947" cy="525937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0D017B5-86B8-8942-85E1-D7760B0FCB0C}"/>
              </a:ext>
            </a:extLst>
          </p:cNvPr>
          <p:cNvSpPr txBox="1"/>
          <p:nvPr/>
        </p:nvSpPr>
        <p:spPr>
          <a:xfrm>
            <a:off x="18373559" y="12260817"/>
            <a:ext cx="4870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99939C2-7BA2-52F9-4AB0-798DABE64D08}"/>
              </a:ext>
            </a:extLst>
          </p:cNvPr>
          <p:cNvSpPr txBox="1"/>
          <p:nvPr/>
        </p:nvSpPr>
        <p:spPr>
          <a:xfrm>
            <a:off x="15257982" y="11186458"/>
            <a:ext cx="1398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965DC3F9-0AB2-A42E-02DC-C2DD60611F65}"/>
              </a:ext>
            </a:extLst>
          </p:cNvPr>
          <p:cNvSpPr/>
          <p:nvPr/>
        </p:nvSpPr>
        <p:spPr bwMode="auto">
          <a:xfrm>
            <a:off x="5834856" y="9196571"/>
            <a:ext cx="186348" cy="186348"/>
          </a:xfrm>
          <a:prstGeom prst="ellipse">
            <a:avLst/>
          </a:prstGeom>
          <a:noFill/>
          <a:ln w="9525">
            <a:solidFill>
              <a:srgbClr val="4F57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cxnSp>
        <p:nvCxnSpPr>
          <p:cNvPr id="98" name="Connector: Elbow 87">
            <a:extLst>
              <a:ext uri="{FF2B5EF4-FFF2-40B4-BE49-F238E27FC236}">
                <a16:creationId xmlns:a16="http://schemas.microsoft.com/office/drawing/2014/main" id="{ED721354-C380-EC55-EC11-824060660AD0}"/>
              </a:ext>
            </a:extLst>
          </p:cNvPr>
          <p:cNvCxnSpPr>
            <a:cxnSpLocks/>
            <a:stCxn id="97" idx="4"/>
            <a:endCxn id="36" idx="0"/>
          </p:cNvCxnSpPr>
          <p:nvPr/>
        </p:nvCxnSpPr>
        <p:spPr>
          <a:xfrm>
            <a:off x="5928030" y="9382919"/>
            <a:ext cx="10333" cy="83093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pic>
        <p:nvPicPr>
          <p:cNvPr id="99" name="Picture 6" descr="Folder Icon | Flatastic 1 Iconpack | Custom Icon Design">
            <a:extLst>
              <a:ext uri="{FF2B5EF4-FFF2-40B4-BE49-F238E27FC236}">
                <a16:creationId xmlns:a16="http://schemas.microsoft.com/office/drawing/2014/main" id="{313DFF06-F084-2F17-8DCC-B6D807A0FD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0" b="11485"/>
          <a:stretch/>
        </p:blipFill>
        <p:spPr bwMode="auto">
          <a:xfrm flipH="1">
            <a:off x="35421905" y="19013721"/>
            <a:ext cx="4506895" cy="2919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B971E7F4-FFA1-D4E2-863B-AFA76E46BA5D}"/>
              </a:ext>
            </a:extLst>
          </p:cNvPr>
          <p:cNvSpPr txBox="1"/>
          <p:nvPr/>
        </p:nvSpPr>
        <p:spPr>
          <a:xfrm>
            <a:off x="35611425" y="20928972"/>
            <a:ext cx="3326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dirty="0">
                <a:solidFill>
                  <a:prstClr val="black">
                    <a:lumMod val="50000"/>
                  </a:prstClr>
                </a:solidFill>
                <a:latin typeface="Arial"/>
              </a:rPr>
              <a:t>any_function_name_here.py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EF0F038-98D7-1732-FDA0-B36B275A17D8}"/>
              </a:ext>
            </a:extLst>
          </p:cNvPr>
          <p:cNvSpPr txBox="1"/>
          <p:nvPr/>
        </p:nvSpPr>
        <p:spPr>
          <a:xfrm>
            <a:off x="35443784" y="20018514"/>
            <a:ext cx="4164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b="1" dirty="0">
                <a:solidFill>
                  <a:prstClr val="black">
                    <a:lumMod val="50000"/>
                  </a:prstClr>
                </a:solidFill>
                <a:latin typeface="Arial"/>
              </a:rPr>
              <a:t>./</a:t>
            </a:r>
            <a:r>
              <a:rPr lang="en-US" sz="2000" b="1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saved_functions</a:t>
            </a:r>
            <a:r>
              <a:rPr lang="en-US" sz="2000" b="1" dirty="0">
                <a:solidFill>
                  <a:prstClr val="black">
                    <a:lumMod val="50000"/>
                  </a:prstClr>
                </a:solidFill>
                <a:latin typeface="Arial"/>
              </a:rPr>
              <a:t>/</a:t>
            </a:r>
            <a:r>
              <a:rPr lang="en-US" sz="2000" b="1" dirty="0" err="1">
                <a:solidFill>
                  <a:srgbClr val="CC00FF"/>
                </a:solidFill>
                <a:latin typeface="Arial"/>
              </a:rPr>
              <a:t>BRD_tolerate_OCR_mistakes</a:t>
            </a:r>
            <a:r>
              <a:rPr lang="en-US" sz="2000" b="1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_handcrafted</a:t>
            </a:r>
            <a:r>
              <a:rPr lang="en-US" sz="2000" b="1" dirty="0">
                <a:solidFill>
                  <a:prstClr val="black">
                    <a:lumMod val="50000"/>
                  </a:prstClr>
                </a:solidFill>
                <a:latin typeface="Arial"/>
              </a:rPr>
              <a:t>/</a:t>
            </a:r>
          </a:p>
        </p:txBody>
      </p:sp>
      <p:cxnSp>
        <p:nvCxnSpPr>
          <p:cNvPr id="102" name="Connector: Elbow 87">
            <a:extLst>
              <a:ext uri="{FF2B5EF4-FFF2-40B4-BE49-F238E27FC236}">
                <a16:creationId xmlns:a16="http://schemas.microsoft.com/office/drawing/2014/main" id="{A264812B-1071-073B-05EF-B844BB8930B1}"/>
              </a:ext>
            </a:extLst>
          </p:cNvPr>
          <p:cNvCxnSpPr>
            <a:cxnSpLocks/>
            <a:stCxn id="103" idx="3"/>
            <a:endCxn id="99" idx="2"/>
          </p:cNvCxnSpPr>
          <p:nvPr/>
        </p:nvCxnSpPr>
        <p:spPr>
          <a:xfrm flipV="1">
            <a:off x="34910913" y="21933324"/>
            <a:ext cx="2764439" cy="2212829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029F612-5082-0846-57CD-54A333CAC15E}"/>
              </a:ext>
            </a:extLst>
          </p:cNvPr>
          <p:cNvSpPr/>
          <p:nvPr/>
        </p:nvSpPr>
        <p:spPr>
          <a:xfrm>
            <a:off x="27787315" y="23739602"/>
            <a:ext cx="7123598" cy="81310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Or, a programmer: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(2) hand-crafts a function and puts it in the “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saved_functions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  <p:cxnSp>
        <p:nvCxnSpPr>
          <p:cNvPr id="104" name="Connector: Elbow 146">
            <a:extLst>
              <a:ext uri="{FF2B5EF4-FFF2-40B4-BE49-F238E27FC236}">
                <a16:creationId xmlns:a16="http://schemas.microsoft.com/office/drawing/2014/main" id="{B1795F7E-9313-3605-2A83-96533EBE513A}"/>
              </a:ext>
            </a:extLst>
          </p:cNvPr>
          <p:cNvCxnSpPr>
            <a:cxnSpLocks/>
            <a:stCxn id="30" idx="1"/>
            <a:endCxn id="147" idx="3"/>
          </p:cNvCxnSpPr>
          <p:nvPr/>
        </p:nvCxnSpPr>
        <p:spPr>
          <a:xfrm flipH="1">
            <a:off x="15834134" y="13010500"/>
            <a:ext cx="317249" cy="357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61493C4-4553-5A01-5A19-4735A13DC2EF}"/>
              </a:ext>
            </a:extLst>
          </p:cNvPr>
          <p:cNvSpPr txBox="1"/>
          <p:nvPr/>
        </p:nvSpPr>
        <p:spPr>
          <a:xfrm>
            <a:off x="15362338" y="12539246"/>
            <a:ext cx="1398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06" name="Connector: Elbow 87">
            <a:extLst>
              <a:ext uri="{FF2B5EF4-FFF2-40B4-BE49-F238E27FC236}">
                <a16:creationId xmlns:a16="http://schemas.microsoft.com/office/drawing/2014/main" id="{F0F0C8A2-87A9-8555-5D6D-5F1E44F2C393}"/>
              </a:ext>
            </a:extLst>
          </p:cNvPr>
          <p:cNvCxnSpPr>
            <a:cxnSpLocks/>
            <a:stCxn id="127" idx="2"/>
            <a:endCxn id="122" idx="0"/>
          </p:cNvCxnSpPr>
          <p:nvPr/>
        </p:nvCxnSpPr>
        <p:spPr>
          <a:xfrm flipH="1">
            <a:off x="18313394" y="18472454"/>
            <a:ext cx="997" cy="401107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07" name="Diamond 106">
            <a:extLst>
              <a:ext uri="{FF2B5EF4-FFF2-40B4-BE49-F238E27FC236}">
                <a16:creationId xmlns:a16="http://schemas.microsoft.com/office/drawing/2014/main" id="{726FED5A-3302-430E-215A-E89C25CA527B}"/>
              </a:ext>
            </a:extLst>
          </p:cNvPr>
          <p:cNvSpPr/>
          <p:nvPr/>
        </p:nvSpPr>
        <p:spPr>
          <a:xfrm>
            <a:off x="17086680" y="19695833"/>
            <a:ext cx="2453396" cy="490454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Have new jobs?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ECD30BB-30A6-AB49-10A3-FBBFE805BA89}"/>
              </a:ext>
            </a:extLst>
          </p:cNvPr>
          <p:cNvSpPr/>
          <p:nvPr/>
        </p:nvSpPr>
        <p:spPr>
          <a:xfrm>
            <a:off x="17094316" y="20643010"/>
            <a:ext cx="2440696" cy="331303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Fetch Jobs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747E761-552B-430E-B177-D7C09C8B6782}"/>
              </a:ext>
            </a:extLst>
          </p:cNvPr>
          <p:cNvSpPr/>
          <p:nvPr/>
        </p:nvSpPr>
        <p:spPr>
          <a:xfrm>
            <a:off x="33510764" y="4396255"/>
            <a:ext cx="10062392" cy="4186128"/>
          </a:xfrm>
          <a:prstGeom prst="roundRect">
            <a:avLst>
              <a:gd name="adj" fmla="val 0"/>
            </a:avLst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Rules for Hand-crafted Functions for a BRD.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You can make a hand-crafted Python function for a BRD. The hand-crafted module for a BRD must be a single *.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py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script stored in the corresponding hand-crafted folder.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If the BRD name is BRD_Email_Router.txt, the hand-crafted folder should be: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BRD_Email_Router_handcrafted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Only one .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py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file should be placed in this folder. The Python filename itself can be anything.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hand-crafted function bypasses the normal GPT-generated-function registry. However, before it is used, Python still validates it against the BRD-authored tests and the required first N_ITEMS_TO_PASS labeled jobs.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directory structure for a hand-crafted function for BRD_Email_Router.txt looks like this: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saved_functions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BRD_Email_Router_handcrafted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# BRD stem + "_handcrafted"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└── implementation.py            # Filename can be anything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Rules for GPT-crafted Functions for a BRD.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GPT generates a Python script from the BRD and registers the generated implementation in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registry.json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Before a generated function becomes the active implementation, it must pass all BRD-authored tests and the first N_ITEMS_TO_PASS labeled jobs specified by the BRD.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directory structure for GPT-generated files for BRD_Email_Router.txt looks like this: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saved_functions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registry.json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            # Tracks active/generated implementations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├──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BRD_Email_Router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                # BRD stem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├── BRD_Email_Router_20261004_205800.py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│   └── BRD_Email_Router_20261004_210315.py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registry.json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identifies which generated script is currently active, so the program does not simply use whichever .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py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file has the newest filename.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AAD4B30-23DB-BE04-7E18-E090DBCF22EC}"/>
              </a:ext>
            </a:extLst>
          </p:cNvPr>
          <p:cNvSpPr/>
          <p:nvPr/>
        </p:nvSpPr>
        <p:spPr>
          <a:xfrm>
            <a:off x="17351193" y="17509214"/>
            <a:ext cx="1925462" cy="323814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Save the function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1" name="Connector: Elbow 87">
            <a:extLst>
              <a:ext uri="{FF2B5EF4-FFF2-40B4-BE49-F238E27FC236}">
                <a16:creationId xmlns:a16="http://schemas.microsoft.com/office/drawing/2014/main" id="{DC68D06A-77CA-92CE-EB9A-8D2D6FF6835B}"/>
              </a:ext>
            </a:extLst>
          </p:cNvPr>
          <p:cNvCxnSpPr>
            <a:cxnSpLocks/>
            <a:stCxn id="44" idx="2"/>
            <a:endCxn id="49" idx="0"/>
          </p:cNvCxnSpPr>
          <p:nvPr/>
        </p:nvCxnSpPr>
        <p:spPr>
          <a:xfrm>
            <a:off x="18314126" y="22575990"/>
            <a:ext cx="1905" cy="337560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5C22C493-1C03-9E94-4B7F-47F4738A40DE}"/>
              </a:ext>
            </a:extLst>
          </p:cNvPr>
          <p:cNvSpPr txBox="1"/>
          <p:nvPr/>
        </p:nvSpPr>
        <p:spPr>
          <a:xfrm>
            <a:off x="19556885" y="22871272"/>
            <a:ext cx="820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C9560F2E-B965-2C39-CFF6-2CE892DE4C5C}"/>
              </a:ext>
            </a:extLst>
          </p:cNvPr>
          <p:cNvSpPr/>
          <p:nvPr/>
        </p:nvSpPr>
        <p:spPr>
          <a:xfrm>
            <a:off x="33510764" y="8816157"/>
            <a:ext cx="10062392" cy="4194343"/>
          </a:xfrm>
          <a:prstGeom prst="roundRect">
            <a:avLst>
              <a:gd name="adj" fmla="val 0"/>
            </a:avLst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How BRDs in the “documents” folder will be treated by the Agent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BRD: </a:t>
            </a:r>
            <a:r>
              <a:rPr lang="en-US" sz="1000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JobManager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detects a new BRD_*.txt file and launches one worker for it, subject to the concurrency limit.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Modified BRD: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worker detects the changed BRD hash, invalidates its active in-memory state, reparses the BRD, and reselects an implementation: handcrafted → cached → GPT-generated.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Deleted BRD: </a:t>
            </a:r>
            <a:r>
              <a:rPr lang="en-US" sz="1000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JobManager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requests the worker to stop. Obsolete registry entries and GPT-generated files are later cleaned up. Handcrafted files are preserved.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Renamed BRD: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Treated approximately as deleting the old BRD and adding a new one.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Repeated edits: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detected change triggers re-parsing and implementation re-selection, so frequent edits may cause repeated validation or GPT calls.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Duplicate workers: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Prevented by _</a:t>
            </a:r>
            <a:r>
              <a:rPr lang="en-US" sz="1000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inflight_brds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only one worker is active for a given BRD.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Manager failure: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Workers monitor the parent process and manager heartbeat and exit automatically if the manager disappears or becomes unresponsive.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Periodic cleanup: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About every 60 seconds, obsolete registry entries, generated implementations, and stale quarantine records are cleaned up.</a:t>
            </a:r>
          </a:p>
          <a:p>
            <a:pPr marL="228600" lvl="0" indent="-228600" defTabSz="914400">
              <a:buFontTx/>
              <a:buAutoNum type="arabicParenR"/>
              <a:defRPr/>
            </a:pPr>
            <a:endParaRPr lang="en-US" sz="1000" b="1" kern="0" dirty="0">
              <a:solidFill>
                <a:prstClr val="black">
                  <a:lumMod val="50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defTabSz="914400">
              <a:buFontTx/>
              <a:buAutoNum type="arabicParenR"/>
              <a:defRPr/>
            </a:pPr>
            <a:r>
              <a:rPr lang="en-US" sz="1000" b="1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Manual stop: </a:t>
            </a:r>
            <a:r>
              <a:rPr lang="en-US" sz="1000" kern="0" dirty="0" err="1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stop_worker_for_brd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("BRD_foo.txt") requests a graceful stop and force-terminates the worker only if necessary.</a:t>
            </a:r>
            <a:endParaRPr kumimoji="0" lang="en-US" sz="90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7F23F45-2B94-14DD-6AC0-DAE745383C7A}"/>
              </a:ext>
            </a:extLst>
          </p:cNvPr>
          <p:cNvGrpSpPr/>
          <p:nvPr/>
        </p:nvGrpSpPr>
        <p:grpSpPr>
          <a:xfrm>
            <a:off x="21559698" y="24044091"/>
            <a:ext cx="2201916" cy="385126"/>
            <a:chOff x="12799260" y="4495800"/>
            <a:chExt cx="18288000" cy="676459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A8C1446A-B2E5-DB24-DCB2-30B4E1FBA27D}"/>
                </a:ext>
              </a:extLst>
            </p:cNvPr>
            <p:cNvSpPr/>
            <p:nvPr/>
          </p:nvSpPr>
          <p:spPr>
            <a:xfrm>
              <a:off x="12799260" y="4495800"/>
              <a:ext cx="18288000" cy="676459"/>
            </a:xfrm>
            <a:prstGeom prst="roundRect">
              <a:avLst>
                <a:gd name="adj" fmla="val 50000"/>
              </a:avLst>
            </a:prstGeom>
            <a:solidFill>
              <a:srgbClr val="4F5759">
                <a:lumMod val="20000"/>
                <a:lumOff val="80000"/>
              </a:srgbClr>
            </a:solidFill>
            <a:ln w="12700" cap="sq" cmpd="sng" algn="ctr">
              <a:solidFill>
                <a:srgbClr val="4F575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Limbo state until an Updated BRD comes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9FFC6C5-EE2C-9E0A-6636-8B24046E5881}"/>
                </a:ext>
              </a:extLst>
            </p:cNvPr>
            <p:cNvSpPr txBox="1"/>
            <p:nvPr/>
          </p:nvSpPr>
          <p:spPr>
            <a:xfrm>
              <a:off x="16916401" y="4501979"/>
              <a:ext cx="1143002" cy="459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AE660C9A-EBC6-695E-3B56-2C0ACAB6FB72}"/>
              </a:ext>
            </a:extLst>
          </p:cNvPr>
          <p:cNvSpPr txBox="1"/>
          <p:nvPr/>
        </p:nvSpPr>
        <p:spPr>
          <a:xfrm>
            <a:off x="14211564" y="7391400"/>
            <a:ext cx="3548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400" dirty="0">
                <a:solidFill>
                  <a:prstClr val="black">
                    <a:lumMod val="50000"/>
                  </a:prstClr>
                </a:solidFill>
                <a:latin typeface="Arial"/>
              </a:rPr>
              <a:t>Launch a BRD worker process</a:t>
            </a:r>
            <a:endParaRPr lang="en-US" sz="14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31C64937-85AA-EB52-B850-82E723854C69}"/>
              </a:ext>
            </a:extLst>
          </p:cNvPr>
          <p:cNvCxnSpPr>
            <a:cxnSpLocks/>
            <a:stCxn id="118" idx="3"/>
            <a:endCxn id="41" idx="0"/>
          </p:cNvCxnSpPr>
          <p:nvPr/>
        </p:nvCxnSpPr>
        <p:spPr>
          <a:xfrm>
            <a:off x="22300847" y="22327926"/>
            <a:ext cx="371070" cy="541958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3B4E33C4-1EFB-BFB6-4916-BC7A07BD4451}"/>
              </a:ext>
            </a:extLst>
          </p:cNvPr>
          <p:cNvSpPr/>
          <p:nvPr/>
        </p:nvSpPr>
        <p:spPr bwMode="auto">
          <a:xfrm>
            <a:off x="11788479" y="18427242"/>
            <a:ext cx="186348" cy="186348"/>
          </a:xfrm>
          <a:prstGeom prst="ellipse">
            <a:avLst/>
          </a:prstGeom>
          <a:noFill/>
          <a:ln w="9525">
            <a:solidFill>
              <a:srgbClr val="4F57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C5617F28-5962-DD22-71E0-2DB551477752}"/>
              </a:ext>
            </a:extLst>
          </p:cNvPr>
          <p:cNvSpPr/>
          <p:nvPr/>
        </p:nvSpPr>
        <p:spPr>
          <a:xfrm>
            <a:off x="17086696" y="18873561"/>
            <a:ext cx="2453396" cy="490454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Have active function?</a:t>
            </a:r>
          </a:p>
        </p:txBody>
      </p:sp>
      <p:cxnSp>
        <p:nvCxnSpPr>
          <p:cNvPr id="123" name="Connector: Elbow 87">
            <a:extLst>
              <a:ext uri="{FF2B5EF4-FFF2-40B4-BE49-F238E27FC236}">
                <a16:creationId xmlns:a16="http://schemas.microsoft.com/office/drawing/2014/main" id="{A8081093-3FE2-16E1-841E-A6C807BDE182}"/>
              </a:ext>
            </a:extLst>
          </p:cNvPr>
          <p:cNvCxnSpPr>
            <a:cxnSpLocks/>
            <a:stCxn id="107" idx="2"/>
            <a:endCxn id="108" idx="0"/>
          </p:cNvCxnSpPr>
          <p:nvPr/>
        </p:nvCxnSpPr>
        <p:spPr>
          <a:xfrm>
            <a:off x="18313378" y="20186287"/>
            <a:ext cx="1286" cy="45672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53DA67CD-86CF-7C6C-34BD-6C7F76498A29}"/>
              </a:ext>
            </a:extLst>
          </p:cNvPr>
          <p:cNvSpPr txBox="1"/>
          <p:nvPr/>
        </p:nvSpPr>
        <p:spPr>
          <a:xfrm>
            <a:off x="18346551" y="19334178"/>
            <a:ext cx="563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25" name="Connector: Elbow 87">
            <a:extLst>
              <a:ext uri="{FF2B5EF4-FFF2-40B4-BE49-F238E27FC236}">
                <a16:creationId xmlns:a16="http://schemas.microsoft.com/office/drawing/2014/main" id="{66FCDE1B-D443-813C-A0EF-58167FE255BA}"/>
              </a:ext>
            </a:extLst>
          </p:cNvPr>
          <p:cNvCxnSpPr>
            <a:cxnSpLocks/>
            <a:stCxn id="122" idx="2"/>
            <a:endCxn id="107" idx="0"/>
          </p:cNvCxnSpPr>
          <p:nvPr/>
        </p:nvCxnSpPr>
        <p:spPr>
          <a:xfrm flipH="1">
            <a:off x="18313378" y="19364015"/>
            <a:ext cx="16" cy="331818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D36CCBE3-55A9-2EC9-358E-0E114B9FAA65}"/>
              </a:ext>
            </a:extLst>
          </p:cNvPr>
          <p:cNvCxnSpPr>
            <a:cxnSpLocks/>
            <a:stCxn id="122" idx="1"/>
            <a:endCxn id="120" idx="4"/>
          </p:cNvCxnSpPr>
          <p:nvPr/>
        </p:nvCxnSpPr>
        <p:spPr>
          <a:xfrm rot="10800000">
            <a:off x="11881654" y="18613590"/>
            <a:ext cx="5205043" cy="505198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27" name="Flowchart: Preparation 126">
            <a:extLst>
              <a:ext uri="{FF2B5EF4-FFF2-40B4-BE49-F238E27FC236}">
                <a16:creationId xmlns:a16="http://schemas.microsoft.com/office/drawing/2014/main" id="{F431DBF2-9389-2478-8905-14261D9D60EB}"/>
              </a:ext>
            </a:extLst>
          </p:cNvPr>
          <p:cNvSpPr/>
          <p:nvPr/>
        </p:nvSpPr>
        <p:spPr bwMode="auto">
          <a:xfrm>
            <a:off x="16787192" y="18141151"/>
            <a:ext cx="3054398" cy="331303"/>
          </a:xfrm>
          <a:prstGeom prst="flowChartPreparation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BRD changed  </a:t>
            </a:r>
          </a:p>
          <a:p>
            <a:pPr lvl="0" algn="ctr" defTabSz="2194506">
              <a:defRPr/>
            </a:pP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Arial"/>
                <a:sym typeface="Wingdings" panose="05000000000000000000" pitchFamily="2" charset="2"/>
              </a:rPr>
              <a:t>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invalidate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cached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function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C47D171-6A40-9EA1-2B21-460255593E14}"/>
              </a:ext>
            </a:extLst>
          </p:cNvPr>
          <p:cNvSpPr txBox="1"/>
          <p:nvPr/>
        </p:nvSpPr>
        <p:spPr>
          <a:xfrm>
            <a:off x="16434418" y="18809462"/>
            <a:ext cx="820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7F7A31E6-7415-EFBA-02D8-3223D4889088}"/>
              </a:ext>
            </a:extLst>
          </p:cNvPr>
          <p:cNvSpPr/>
          <p:nvPr/>
        </p:nvSpPr>
        <p:spPr>
          <a:xfrm>
            <a:off x="3642122" y="1605230"/>
            <a:ext cx="4574118" cy="676459"/>
          </a:xfrm>
          <a:prstGeom prst="roundRect">
            <a:avLst>
              <a:gd name="adj" fmla="val 50000"/>
            </a:avLst>
          </a:prstGeom>
          <a:solidFill>
            <a:srgbClr val="4F5759">
              <a:lumMod val="20000"/>
              <a:lumOff val="80000"/>
            </a:srgbClr>
          </a:solidFill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Start</a:t>
            </a:r>
          </a:p>
          <a:p>
            <a:pPr marL="0" marR="0" lvl="0" indent="0" algn="ctr" defTabSz="21945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run_continuous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 function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142A2610-312D-E640-00F6-F06C30D3C063}"/>
              </a:ext>
            </a:extLst>
          </p:cNvPr>
          <p:cNvSpPr/>
          <p:nvPr/>
        </p:nvSpPr>
        <p:spPr>
          <a:xfrm>
            <a:off x="3762561" y="3523181"/>
            <a:ext cx="4330938" cy="449561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Find all BRDs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1" name="Connector: Elbow 87">
            <a:extLst>
              <a:ext uri="{FF2B5EF4-FFF2-40B4-BE49-F238E27FC236}">
                <a16:creationId xmlns:a16="http://schemas.microsoft.com/office/drawing/2014/main" id="{38C43D2E-C0A9-9D17-DDF4-81CCA12BAAB9}"/>
              </a:ext>
            </a:extLst>
          </p:cNvPr>
          <p:cNvCxnSpPr>
            <a:cxnSpLocks/>
            <a:stCxn id="132" idx="2"/>
            <a:endCxn id="130" idx="0"/>
          </p:cNvCxnSpPr>
          <p:nvPr/>
        </p:nvCxnSpPr>
        <p:spPr>
          <a:xfrm>
            <a:off x="5928030" y="3222566"/>
            <a:ext cx="0" cy="300615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0D77CCE7-1645-D03F-9FDF-9718737ED569}"/>
              </a:ext>
            </a:extLst>
          </p:cNvPr>
          <p:cNvSpPr/>
          <p:nvPr/>
        </p:nvSpPr>
        <p:spPr>
          <a:xfrm>
            <a:off x="3762561" y="2594703"/>
            <a:ext cx="4330938" cy="627863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Clean non-used functions(except handcrafted ones) and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keep the registry clean of functions unrelated to current BRDs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3" name="Connector: Elbow 87">
            <a:extLst>
              <a:ext uri="{FF2B5EF4-FFF2-40B4-BE49-F238E27FC236}">
                <a16:creationId xmlns:a16="http://schemas.microsoft.com/office/drawing/2014/main" id="{34A29330-11DA-F9EF-7A04-B9F56A97798D}"/>
              </a:ext>
            </a:extLst>
          </p:cNvPr>
          <p:cNvCxnSpPr>
            <a:cxnSpLocks/>
            <a:stCxn id="129" idx="2"/>
            <a:endCxn id="132" idx="0"/>
          </p:cNvCxnSpPr>
          <p:nvPr/>
        </p:nvCxnSpPr>
        <p:spPr>
          <a:xfrm flipH="1">
            <a:off x="5928030" y="2281689"/>
            <a:ext cx="1151" cy="31301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83B6B214-8DF5-BF2C-8064-BD1269B4EA5F}"/>
              </a:ext>
            </a:extLst>
          </p:cNvPr>
          <p:cNvCxnSpPr>
            <a:cxnSpLocks/>
            <a:stCxn id="139" idx="3"/>
            <a:endCxn id="141" idx="6"/>
          </p:cNvCxnSpPr>
          <p:nvPr/>
        </p:nvCxnSpPr>
        <p:spPr>
          <a:xfrm flipH="1" flipV="1">
            <a:off x="18406363" y="9372435"/>
            <a:ext cx="2917649" cy="828321"/>
          </a:xfrm>
          <a:prstGeom prst="bentConnector3">
            <a:avLst>
              <a:gd name="adj1" fmla="val -7835"/>
            </a:avLst>
          </a:prstGeom>
          <a:noFill/>
          <a:ln w="76200" cap="sq" cmpd="sng" algn="ctr">
            <a:solidFill>
              <a:srgbClr val="4F5759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322A3122-19B6-EE96-DA93-6EF29062DEE6}"/>
              </a:ext>
            </a:extLst>
          </p:cNvPr>
          <p:cNvSpPr txBox="1"/>
          <p:nvPr/>
        </p:nvSpPr>
        <p:spPr>
          <a:xfrm>
            <a:off x="24011510" y="22775610"/>
            <a:ext cx="324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2000" dirty="0">
                <a:solidFill>
                  <a:prstClr val="black">
                    <a:lumMod val="50000"/>
                  </a:prstClr>
                </a:solidFill>
                <a:latin typeface="Arial"/>
              </a:rPr>
              <a:t>  </a:t>
            </a:r>
            <a:endParaRPr lang="en-US" sz="20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DD72A52-D7D1-8454-9E09-E454031BA21D}"/>
              </a:ext>
            </a:extLst>
          </p:cNvPr>
          <p:cNvSpPr txBox="1"/>
          <p:nvPr/>
        </p:nvSpPr>
        <p:spPr>
          <a:xfrm>
            <a:off x="17621794" y="15333306"/>
            <a:ext cx="529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539646D6-AA4F-B08C-7E17-58C93BAC34E1}"/>
              </a:ext>
            </a:extLst>
          </p:cNvPr>
          <p:cNvSpPr/>
          <p:nvPr/>
        </p:nvSpPr>
        <p:spPr>
          <a:xfrm>
            <a:off x="16647624" y="8165465"/>
            <a:ext cx="3331880" cy="845043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Python parses:</a:t>
            </a:r>
          </a:p>
          <a:p>
            <a:pPr marL="60325" marR="0" lvl="0" indent="11271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FUNCTION INPUT/OUTPUT CONTRACT</a:t>
            </a:r>
          </a:p>
          <a:p>
            <a:pPr marL="60325" marR="0" lvl="0" indent="11271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TEST EXAMPLES &amp; EXPECTED RESULTS</a:t>
            </a:r>
          </a:p>
          <a:p>
            <a:pPr marL="60325" marR="0" lvl="0" indent="11271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ID_FIELD, EXPECTED_FIELD, N_ITEMS_TO_PASS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LLM read the whole BRD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8" name="Connector: Elbow 109">
            <a:extLst>
              <a:ext uri="{FF2B5EF4-FFF2-40B4-BE49-F238E27FC236}">
                <a16:creationId xmlns:a16="http://schemas.microsoft.com/office/drawing/2014/main" id="{74DCF444-2C54-CDE5-A9EE-222083DDFEDC}"/>
              </a:ext>
            </a:extLst>
          </p:cNvPr>
          <p:cNvCxnSpPr>
            <a:cxnSpLocks/>
            <a:stCxn id="137" idx="2"/>
            <a:endCxn id="141" idx="0"/>
          </p:cNvCxnSpPr>
          <p:nvPr/>
        </p:nvCxnSpPr>
        <p:spPr>
          <a:xfrm flipH="1">
            <a:off x="18313189" y="9010508"/>
            <a:ext cx="375" cy="26875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39" name="Diamond 138">
            <a:extLst>
              <a:ext uri="{FF2B5EF4-FFF2-40B4-BE49-F238E27FC236}">
                <a16:creationId xmlns:a16="http://schemas.microsoft.com/office/drawing/2014/main" id="{B4204113-0B0E-A710-47F8-789D19202DAE}"/>
              </a:ext>
            </a:extLst>
          </p:cNvPr>
          <p:cNvSpPr/>
          <p:nvPr/>
        </p:nvSpPr>
        <p:spPr>
          <a:xfrm>
            <a:off x="15303906" y="9856933"/>
            <a:ext cx="6020106" cy="687646"/>
          </a:xfrm>
          <a:prstGeom prst="diamond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Does jobs file contain at least N_ITEMS_TO_PASS labeled jobs?</a:t>
            </a:r>
          </a:p>
        </p:txBody>
      </p:sp>
      <p:cxnSp>
        <p:nvCxnSpPr>
          <p:cNvPr id="140" name="Connector: Elbow 87">
            <a:extLst>
              <a:ext uri="{FF2B5EF4-FFF2-40B4-BE49-F238E27FC236}">
                <a16:creationId xmlns:a16="http://schemas.microsoft.com/office/drawing/2014/main" id="{052D76A9-30EB-C1D0-3A6B-FD78C094AFD5}"/>
              </a:ext>
            </a:extLst>
          </p:cNvPr>
          <p:cNvCxnSpPr>
            <a:cxnSpLocks/>
            <a:stCxn id="110" idx="2"/>
            <a:endCxn id="127" idx="0"/>
          </p:cNvCxnSpPr>
          <p:nvPr/>
        </p:nvCxnSpPr>
        <p:spPr>
          <a:xfrm>
            <a:off x="18313924" y="17833028"/>
            <a:ext cx="467" cy="308123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A970FED8-2CCA-670F-BA14-1143A590E015}"/>
              </a:ext>
            </a:extLst>
          </p:cNvPr>
          <p:cNvSpPr/>
          <p:nvPr/>
        </p:nvSpPr>
        <p:spPr bwMode="auto">
          <a:xfrm>
            <a:off x="18220015" y="9279261"/>
            <a:ext cx="186348" cy="186348"/>
          </a:xfrm>
          <a:prstGeom prst="ellipse">
            <a:avLst/>
          </a:prstGeom>
          <a:noFill/>
          <a:ln w="9525">
            <a:solidFill>
              <a:srgbClr val="4F57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D3D9612-1737-EDB4-23B8-D93FEEDE7C08}"/>
              </a:ext>
            </a:extLst>
          </p:cNvPr>
          <p:cNvSpPr txBox="1"/>
          <p:nvPr/>
        </p:nvSpPr>
        <p:spPr>
          <a:xfrm>
            <a:off x="21552584" y="9591358"/>
            <a:ext cx="2221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dirty="0">
                <a:solidFill>
                  <a:prstClr val="black">
                    <a:lumMod val="50000"/>
                  </a:prstClr>
                </a:solidFill>
                <a:latin typeface="Arial"/>
              </a:rPr>
              <a:t>No </a:t>
            </a:r>
            <a:r>
              <a:rPr lang="en-US" dirty="0">
                <a:solidFill>
                  <a:prstClr val="black">
                    <a:lumMod val="50000"/>
                  </a:prstClr>
                </a:solidFill>
                <a:latin typeface="Arial"/>
                <a:sym typeface="Wingdings" panose="05000000000000000000" pitchFamily="2" charset="2"/>
              </a:rPr>
              <a:t> delay some</a:t>
            </a:r>
            <a:endParaRPr lang="en-US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43" name="Connector: Elbow 87">
            <a:extLst>
              <a:ext uri="{FF2B5EF4-FFF2-40B4-BE49-F238E27FC236}">
                <a16:creationId xmlns:a16="http://schemas.microsoft.com/office/drawing/2014/main" id="{C14D4304-630E-5AEA-BA73-0EF3F4539691}"/>
              </a:ext>
            </a:extLst>
          </p:cNvPr>
          <p:cNvCxnSpPr>
            <a:cxnSpLocks/>
            <a:stCxn id="141" idx="4"/>
            <a:endCxn id="139" idx="0"/>
          </p:cNvCxnSpPr>
          <p:nvPr/>
        </p:nvCxnSpPr>
        <p:spPr>
          <a:xfrm>
            <a:off x="18313189" y="9465609"/>
            <a:ext cx="770" cy="391324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144" name="Connector: Elbow 109">
            <a:extLst>
              <a:ext uri="{FF2B5EF4-FFF2-40B4-BE49-F238E27FC236}">
                <a16:creationId xmlns:a16="http://schemas.microsoft.com/office/drawing/2014/main" id="{E36367D2-CA10-D76E-2AB1-022FB7F15BBD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18313677" y="13382043"/>
            <a:ext cx="0" cy="1303635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cxnSp>
        <p:nvCxnSpPr>
          <p:cNvPr id="145" name="Connector: Elbow 109">
            <a:extLst>
              <a:ext uri="{FF2B5EF4-FFF2-40B4-BE49-F238E27FC236}">
                <a16:creationId xmlns:a16="http://schemas.microsoft.com/office/drawing/2014/main" id="{9A561D8C-3FD9-9F58-CC91-E6E0A797BA4C}"/>
              </a:ext>
            </a:extLst>
          </p:cNvPr>
          <p:cNvCxnSpPr>
            <a:cxnSpLocks/>
            <a:stCxn id="139" idx="2"/>
            <a:endCxn id="158" idx="0"/>
          </p:cNvCxnSpPr>
          <p:nvPr/>
        </p:nvCxnSpPr>
        <p:spPr>
          <a:xfrm>
            <a:off x="18313959" y="10544579"/>
            <a:ext cx="2072" cy="387289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46" name="Flowchart: Preparation 145">
            <a:extLst>
              <a:ext uri="{FF2B5EF4-FFF2-40B4-BE49-F238E27FC236}">
                <a16:creationId xmlns:a16="http://schemas.microsoft.com/office/drawing/2014/main" id="{2DB6D99C-D67E-4DB8-802A-D1D2FDC211A3}"/>
              </a:ext>
            </a:extLst>
          </p:cNvPr>
          <p:cNvSpPr/>
          <p:nvPr/>
        </p:nvSpPr>
        <p:spPr bwMode="auto">
          <a:xfrm>
            <a:off x="17003769" y="15872460"/>
            <a:ext cx="2619040" cy="331303"/>
          </a:xfrm>
          <a:prstGeom prst="flowChartPreparation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Test_Run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Does it pass the BRD examples test?</a:t>
            </a:r>
          </a:p>
        </p:txBody>
      </p:sp>
      <p:sp>
        <p:nvSpPr>
          <p:cNvPr id="147" name="Flowchart: Preparation 146">
            <a:extLst>
              <a:ext uri="{FF2B5EF4-FFF2-40B4-BE49-F238E27FC236}">
                <a16:creationId xmlns:a16="http://schemas.microsoft.com/office/drawing/2014/main" id="{FB044425-9CDB-C323-18C6-FF758BAB863B}"/>
              </a:ext>
            </a:extLst>
          </p:cNvPr>
          <p:cNvSpPr/>
          <p:nvPr/>
        </p:nvSpPr>
        <p:spPr bwMode="auto">
          <a:xfrm>
            <a:off x="13200044" y="12631186"/>
            <a:ext cx="2634090" cy="765776"/>
          </a:xfrm>
          <a:prstGeom prst="flowChartPreparation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1) Fetch saved function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2) Does it pass examples + N tests?</a:t>
            </a:r>
          </a:p>
        </p:txBody>
      </p:sp>
      <p:cxnSp>
        <p:nvCxnSpPr>
          <p:cNvPr id="148" name="Connector: Elbow 146">
            <a:extLst>
              <a:ext uri="{FF2B5EF4-FFF2-40B4-BE49-F238E27FC236}">
                <a16:creationId xmlns:a16="http://schemas.microsoft.com/office/drawing/2014/main" id="{1FC734F9-04A7-8A63-4273-523CEE13279B}"/>
              </a:ext>
            </a:extLst>
          </p:cNvPr>
          <p:cNvCxnSpPr>
            <a:cxnSpLocks/>
            <a:stCxn id="93" idx="1"/>
            <a:endCxn id="149" idx="3"/>
          </p:cNvCxnSpPr>
          <p:nvPr/>
        </p:nvCxnSpPr>
        <p:spPr>
          <a:xfrm flipH="1">
            <a:off x="15709893" y="11741477"/>
            <a:ext cx="442437" cy="5249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49" name="Flowchart: Preparation 148">
            <a:extLst>
              <a:ext uri="{FF2B5EF4-FFF2-40B4-BE49-F238E27FC236}">
                <a16:creationId xmlns:a16="http://schemas.microsoft.com/office/drawing/2014/main" id="{6580FBF7-B9D1-2801-86E8-F87CE3257A05}"/>
              </a:ext>
            </a:extLst>
          </p:cNvPr>
          <p:cNvSpPr/>
          <p:nvPr/>
        </p:nvSpPr>
        <p:spPr bwMode="auto">
          <a:xfrm>
            <a:off x="12420599" y="11516902"/>
            <a:ext cx="3289294" cy="459647"/>
          </a:xfrm>
          <a:prstGeom prst="flowChartPreparation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1) Fetch hand-crafted function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2) Does it pass examples + N tests?</a:t>
            </a:r>
          </a:p>
        </p:txBody>
      </p:sp>
      <p:cxnSp>
        <p:nvCxnSpPr>
          <p:cNvPr id="150" name="Connector: Elbow 146">
            <a:extLst>
              <a:ext uri="{FF2B5EF4-FFF2-40B4-BE49-F238E27FC236}">
                <a16:creationId xmlns:a16="http://schemas.microsoft.com/office/drawing/2014/main" id="{993A5A26-FB78-021B-32EE-9B3794694562}"/>
              </a:ext>
            </a:extLst>
          </p:cNvPr>
          <p:cNvCxnSpPr>
            <a:cxnSpLocks/>
            <a:stCxn id="149" idx="2"/>
            <a:endCxn id="30" idx="0"/>
          </p:cNvCxnSpPr>
          <p:nvPr/>
        </p:nvCxnSpPr>
        <p:spPr>
          <a:xfrm rot="16200000" flipH="1">
            <a:off x="15858257" y="10183537"/>
            <a:ext cx="662408" cy="4248431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47F3023B-E568-B7CA-340C-ED395921F912}"/>
              </a:ext>
            </a:extLst>
          </p:cNvPr>
          <p:cNvSpPr txBox="1"/>
          <p:nvPr/>
        </p:nvSpPr>
        <p:spPr>
          <a:xfrm>
            <a:off x="13845516" y="11975878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D61F8E9-A8F1-694E-3720-78470E29212D}"/>
              </a:ext>
            </a:extLst>
          </p:cNvPr>
          <p:cNvSpPr txBox="1"/>
          <p:nvPr/>
        </p:nvSpPr>
        <p:spPr>
          <a:xfrm>
            <a:off x="11878730" y="11984909"/>
            <a:ext cx="1398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53" name="Connector: Elbow 146">
            <a:extLst>
              <a:ext uri="{FF2B5EF4-FFF2-40B4-BE49-F238E27FC236}">
                <a16:creationId xmlns:a16="http://schemas.microsoft.com/office/drawing/2014/main" id="{1DAC14CF-E9D1-99D9-87A7-A905709FEC19}"/>
              </a:ext>
            </a:extLst>
          </p:cNvPr>
          <p:cNvCxnSpPr>
            <a:cxnSpLocks/>
            <a:stCxn id="149" idx="1"/>
            <a:endCxn id="127" idx="1"/>
          </p:cNvCxnSpPr>
          <p:nvPr/>
        </p:nvCxnSpPr>
        <p:spPr>
          <a:xfrm rot="10800000" flipH="1" flipV="1">
            <a:off x="12420598" y="11746725"/>
            <a:ext cx="4366593" cy="6560077"/>
          </a:xfrm>
          <a:prstGeom prst="bentConnector3">
            <a:avLst>
              <a:gd name="adj1" fmla="val -5235"/>
            </a:avLst>
          </a:prstGeom>
          <a:noFill/>
          <a:ln w="76200" cap="sq" cmpd="sng" algn="ctr">
            <a:solidFill>
              <a:srgbClr val="4F575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54" name="Connector: Elbow 146">
            <a:extLst>
              <a:ext uri="{FF2B5EF4-FFF2-40B4-BE49-F238E27FC236}">
                <a16:creationId xmlns:a16="http://schemas.microsoft.com/office/drawing/2014/main" id="{F751AC7D-AA82-E73D-B640-977B4DC5D292}"/>
              </a:ext>
            </a:extLst>
          </p:cNvPr>
          <p:cNvCxnSpPr>
            <a:cxnSpLocks/>
            <a:stCxn id="147" idx="2"/>
            <a:endCxn id="11" idx="0"/>
          </p:cNvCxnSpPr>
          <p:nvPr/>
        </p:nvCxnSpPr>
        <p:spPr>
          <a:xfrm rot="16200000" flipH="1">
            <a:off x="15771025" y="12143026"/>
            <a:ext cx="1288716" cy="3796588"/>
          </a:xfrm>
          <a:prstGeom prst="bentConnector3">
            <a:avLst>
              <a:gd name="adj1" fmla="val 50000"/>
            </a:avLst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84122480-D452-1DFE-1D34-45BB48FD6908}"/>
              </a:ext>
            </a:extLst>
          </p:cNvPr>
          <p:cNvSpPr txBox="1"/>
          <p:nvPr/>
        </p:nvSpPr>
        <p:spPr>
          <a:xfrm>
            <a:off x="14486661" y="13607014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56" name="Connector: Elbow 146">
            <a:extLst>
              <a:ext uri="{FF2B5EF4-FFF2-40B4-BE49-F238E27FC236}">
                <a16:creationId xmlns:a16="http://schemas.microsoft.com/office/drawing/2014/main" id="{31DAFEF0-D002-428A-5E10-87B66E1AB213}"/>
              </a:ext>
            </a:extLst>
          </p:cNvPr>
          <p:cNvCxnSpPr>
            <a:cxnSpLocks/>
            <a:stCxn id="147" idx="1"/>
            <a:endCxn id="127" idx="1"/>
          </p:cNvCxnSpPr>
          <p:nvPr/>
        </p:nvCxnSpPr>
        <p:spPr>
          <a:xfrm rot="10800000" flipH="1" flipV="1">
            <a:off x="13200044" y="13014073"/>
            <a:ext cx="3587148" cy="5292729"/>
          </a:xfrm>
          <a:prstGeom prst="bentConnector3">
            <a:avLst>
              <a:gd name="adj1" fmla="val -6373"/>
            </a:avLst>
          </a:prstGeom>
          <a:noFill/>
          <a:ln w="76200" cap="sq" cmpd="sng" algn="ctr">
            <a:solidFill>
              <a:srgbClr val="4F5759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97C59DFB-0D2C-FFC6-3CC6-BF69BA146FCB}"/>
              </a:ext>
            </a:extLst>
          </p:cNvPr>
          <p:cNvSpPr txBox="1"/>
          <p:nvPr/>
        </p:nvSpPr>
        <p:spPr>
          <a:xfrm>
            <a:off x="12524795" y="13559599"/>
            <a:ext cx="1398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D2101A9B-15BF-1F1D-330C-A0D795EBC1A5}"/>
              </a:ext>
            </a:extLst>
          </p:cNvPr>
          <p:cNvSpPr/>
          <p:nvPr/>
        </p:nvSpPr>
        <p:spPr bwMode="auto">
          <a:xfrm>
            <a:off x="18222857" y="10931868"/>
            <a:ext cx="186348" cy="186348"/>
          </a:xfrm>
          <a:prstGeom prst="ellipse">
            <a:avLst/>
          </a:prstGeom>
          <a:noFill/>
          <a:ln w="9525">
            <a:solidFill>
              <a:srgbClr val="4F57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cxnSp>
        <p:nvCxnSpPr>
          <p:cNvPr id="159" name="Connector: Elbow 109">
            <a:extLst>
              <a:ext uri="{FF2B5EF4-FFF2-40B4-BE49-F238E27FC236}">
                <a16:creationId xmlns:a16="http://schemas.microsoft.com/office/drawing/2014/main" id="{AD362449-2BB4-5573-AD4B-8EFC2813F7E5}"/>
              </a:ext>
            </a:extLst>
          </p:cNvPr>
          <p:cNvCxnSpPr>
            <a:cxnSpLocks/>
            <a:stCxn id="158" idx="4"/>
            <a:endCxn id="93" idx="0"/>
          </p:cNvCxnSpPr>
          <p:nvPr/>
        </p:nvCxnSpPr>
        <p:spPr>
          <a:xfrm flipH="1">
            <a:off x="18314624" y="11118216"/>
            <a:ext cx="1407" cy="251718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69" name="Flowchart: Preparation 168">
            <a:extLst>
              <a:ext uri="{FF2B5EF4-FFF2-40B4-BE49-F238E27FC236}">
                <a16:creationId xmlns:a16="http://schemas.microsoft.com/office/drawing/2014/main" id="{45B5BACE-5E75-DB60-BB3C-CEFD60FA53CF}"/>
              </a:ext>
            </a:extLst>
          </p:cNvPr>
          <p:cNvSpPr/>
          <p:nvPr/>
        </p:nvSpPr>
        <p:spPr bwMode="auto">
          <a:xfrm>
            <a:off x="16786662" y="16818238"/>
            <a:ext cx="3065734" cy="331303"/>
          </a:xfrm>
          <a:prstGeom prst="flowChartPreparation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914400"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Test_Run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Does it pass the </a:t>
            </a:r>
            <a:r>
              <a:rPr lang="en-US" sz="1000" kern="0" dirty="0">
                <a:solidFill>
                  <a:prstClr val="black">
                    <a:lumMod val="50000"/>
                  </a:prstClr>
                </a:solidFill>
                <a:latin typeface="Arial"/>
              </a:rPr>
              <a:t>N_ITEMS_TO_PASS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test?</a:t>
            </a:r>
          </a:p>
        </p:txBody>
      </p:sp>
      <p:cxnSp>
        <p:nvCxnSpPr>
          <p:cNvPr id="173" name="Connector: Elbow 87">
            <a:extLst>
              <a:ext uri="{FF2B5EF4-FFF2-40B4-BE49-F238E27FC236}">
                <a16:creationId xmlns:a16="http://schemas.microsoft.com/office/drawing/2014/main" id="{D84BBED4-F848-E6B6-AA6F-C6419EA0C04A}"/>
              </a:ext>
            </a:extLst>
          </p:cNvPr>
          <p:cNvCxnSpPr>
            <a:cxnSpLocks/>
            <a:stCxn id="169" idx="2"/>
          </p:cNvCxnSpPr>
          <p:nvPr/>
        </p:nvCxnSpPr>
        <p:spPr>
          <a:xfrm flipH="1">
            <a:off x="18312856" y="17149541"/>
            <a:ext cx="6673" cy="392482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F836A25F-ECCB-CADD-A312-90E74D438996}"/>
              </a:ext>
            </a:extLst>
          </p:cNvPr>
          <p:cNvSpPr txBox="1"/>
          <p:nvPr/>
        </p:nvSpPr>
        <p:spPr>
          <a:xfrm>
            <a:off x="17738568" y="17171153"/>
            <a:ext cx="529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Yes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F963A72C-4A8E-BBFE-0674-5EA1411A3275}"/>
              </a:ext>
            </a:extLst>
          </p:cNvPr>
          <p:cNvCxnSpPr>
            <a:cxnSpLocks/>
            <a:stCxn id="169" idx="3"/>
            <a:endCxn id="41" idx="0"/>
          </p:cNvCxnSpPr>
          <p:nvPr/>
        </p:nvCxnSpPr>
        <p:spPr>
          <a:xfrm>
            <a:off x="19852396" y="16983890"/>
            <a:ext cx="2819521" cy="5885994"/>
          </a:xfrm>
          <a:prstGeom prst="bentConnector2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173415F7-DF5F-69E6-5E0A-FE99A5D5C93E}"/>
              </a:ext>
            </a:extLst>
          </p:cNvPr>
          <p:cNvSpPr txBox="1"/>
          <p:nvPr/>
        </p:nvSpPr>
        <p:spPr>
          <a:xfrm>
            <a:off x="19668870" y="16982208"/>
            <a:ext cx="24878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This goes to </a:t>
            </a:r>
            <a:r>
              <a:rPr lang="en-US" sz="1200" dirty="0" err="1">
                <a:solidFill>
                  <a:prstClr val="black">
                    <a:lumMod val="50000"/>
                  </a:prstClr>
                </a:solidFill>
                <a:latin typeface="Arial"/>
              </a:rPr>
              <a:t>humnan</a:t>
            </a:r>
            <a:r>
              <a:rPr lang="en-US" sz="1200" dirty="0">
                <a:solidFill>
                  <a:prstClr val="black">
                    <a:lumMod val="50000"/>
                  </a:prstClr>
                </a:solidFill>
                <a:latin typeface="Arial"/>
              </a:rPr>
              <a:t> escalation, since either the LLM is cheating or the examples in BRD is not covering all real job cases.</a:t>
            </a:r>
            <a:endParaRPr lang="en-US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4B30D09-1C01-3CCA-4C85-1801DD1D151F}"/>
              </a:ext>
            </a:extLst>
          </p:cNvPr>
          <p:cNvSpPr txBox="1"/>
          <p:nvPr/>
        </p:nvSpPr>
        <p:spPr>
          <a:xfrm>
            <a:off x="19751756" y="16682315"/>
            <a:ext cx="820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sz="1600" dirty="0">
                <a:solidFill>
                  <a:prstClr val="black">
                    <a:lumMod val="50000"/>
                  </a:prstClr>
                </a:solidFill>
                <a:latin typeface="Arial"/>
              </a:rPr>
              <a:t>No</a:t>
            </a:r>
            <a:endParaRPr lang="en-US" sz="1600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166" name="Connector: Elbow 87">
            <a:extLst>
              <a:ext uri="{FF2B5EF4-FFF2-40B4-BE49-F238E27FC236}">
                <a16:creationId xmlns:a16="http://schemas.microsoft.com/office/drawing/2014/main" id="{29BDAEC3-B0F1-2AD5-D395-42FF5665ADAB}"/>
              </a:ext>
            </a:extLst>
          </p:cNvPr>
          <p:cNvCxnSpPr>
            <a:cxnSpLocks/>
            <a:stCxn id="44" idx="3"/>
            <a:endCxn id="118" idx="1"/>
          </p:cNvCxnSpPr>
          <p:nvPr/>
        </p:nvCxnSpPr>
        <p:spPr>
          <a:xfrm flipV="1">
            <a:off x="19841590" y="22327926"/>
            <a:ext cx="696949" cy="585"/>
          </a:xfrm>
          <a:prstGeom prst="straightConnector1">
            <a:avLst/>
          </a:prstGeom>
          <a:noFill/>
          <a:ln w="76200" cap="sq" cmpd="sng" algn="ctr">
            <a:solidFill>
              <a:srgbClr val="006297"/>
            </a:solidFill>
            <a:prstDash val="solid"/>
            <a:tailEnd type="triangle"/>
          </a:ln>
          <a:effectLst/>
        </p:spPr>
      </p:cxn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A6F7C5F-6F23-F607-F50F-0828F4266A53}"/>
              </a:ext>
            </a:extLst>
          </p:cNvPr>
          <p:cNvSpPr/>
          <p:nvPr/>
        </p:nvSpPr>
        <p:spPr>
          <a:xfrm>
            <a:off x="20538539" y="21957078"/>
            <a:ext cx="1762308" cy="741695"/>
          </a:xfrm>
          <a:prstGeom prst="roundRect">
            <a:avLst/>
          </a:prstGeom>
          <a:noFill/>
          <a:ln w="12700" cap="sq" cmpd="sng" algn="ctr">
            <a:solidFill>
              <a:srgbClr val="4F57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 a quarantine note in memory and registry for this function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52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10512" y="2567635"/>
            <a:ext cx="40160448" cy="2040941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9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BRD-secured access capabilities for LLM-generated functions</a:t>
            </a:r>
            <a:endParaRPr lang="en-US" sz="9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10512" y="4806087"/>
            <a:ext cx="38514528" cy="1250899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 fontScale="77500" lnSpcReduction="20000"/>
          </a:bodyPr>
          <a:lstStyle/>
          <a:p>
            <a:pPr defTabSz="3291840"/>
            <a:r>
              <a:rPr lang="en-US" sz="6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writes code, but Python owns resource access: each BRD declares permissions; the runtime enforces them through narrow my_tools wrappers.</a:t>
            </a:r>
            <a:endParaRPr lang="en-US" sz="612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291011" y="10270541"/>
            <a:ext cx="2468880" cy="0"/>
          </a:xfrm>
          <a:prstGeom prst="line">
            <a:avLst/>
          </a:prstGeom>
          <a:noFill/>
          <a:ln w="762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defTabSz="3291840"/>
            <a:endParaRPr lang="en-US" sz="648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483267" y="10270541"/>
            <a:ext cx="2468880" cy="0"/>
          </a:xfrm>
          <a:prstGeom prst="line">
            <a:avLst/>
          </a:prstGeom>
          <a:noFill/>
          <a:ln w="762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defTabSz="3291840"/>
            <a:endParaRPr lang="en-US" sz="648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708442" y="10270541"/>
            <a:ext cx="2468880" cy="0"/>
          </a:xfrm>
          <a:prstGeom prst="line">
            <a:avLst/>
          </a:prstGeom>
          <a:noFill/>
          <a:ln w="762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defTabSz="3291840"/>
            <a:endParaRPr lang="en-US" sz="648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10512" y="7669987"/>
            <a:ext cx="9480499" cy="513527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6858" tIns="6858" rIns="6858" bIns="6858" rtlCol="0" anchor="ctr">
            <a:normAutofit/>
          </a:bodyPr>
          <a:lstStyle/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480" dirty="0">
              <a:solidFill>
                <a:prstClr val="black"/>
              </a:solidFill>
              <a:latin typeface="Aptos"/>
            </a:endParaRPr>
          </a:p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 declares allowed capability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59891" y="7669987"/>
            <a:ext cx="8723376" cy="5135270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</a:ln>
        </p:spPr>
        <p:txBody>
          <a:bodyPr wrap="square" lIns="6858" tIns="6858" rIns="6858" bIns="6858" rtlCol="0" anchor="ctr">
            <a:normAutofit/>
          </a:bodyPr>
          <a:lstStyle/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480" dirty="0">
              <a:solidFill>
                <a:prstClr val="black"/>
              </a:solidFill>
              <a:latin typeface="Aptos"/>
            </a:endParaRPr>
          </a:p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parses policy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952147" y="7669987"/>
            <a:ext cx="8756294" cy="513527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6858" tIns="6858" rIns="6858" bIns="6858" rtlCol="0" anchor="ctr">
            <a:normAutofit/>
          </a:bodyPr>
          <a:lstStyle/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480" dirty="0">
              <a:solidFill>
                <a:prstClr val="black"/>
              </a:solidFill>
              <a:latin typeface="Aptos"/>
            </a:endParaRPr>
          </a:p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exposes scoped my_tools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177322" y="7669987"/>
            <a:ext cx="5859475" cy="5135270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txBody>
          <a:bodyPr wrap="square" lIns="6858" tIns="6858" rIns="6858" bIns="6858" rtlCol="0" anchor="ctr">
            <a:normAutofit/>
          </a:bodyPr>
          <a:lstStyle/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480" dirty="0">
              <a:solidFill>
                <a:prstClr val="black"/>
              </a:solidFill>
              <a:latin typeface="Aptos"/>
            </a:endParaRPr>
          </a:p>
          <a:p>
            <a:pPr algn="ctr" defTabSz="3291840"/>
            <a:r>
              <a:rPr lang="en-US" sz="64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function calls only approved tools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07591" y="13990320"/>
            <a:ext cx="12673584" cy="1152144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64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Machine-readable BRD section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2832" y="15307056"/>
            <a:ext cx="13652292" cy="6320333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486" tIns="5486" rIns="5486" bIns="5486" rtlCol="0" anchor="t">
            <a:normAutofit/>
          </a:bodyPr>
          <a:lstStyle/>
          <a:p>
            <a:pPr defTabSz="3291840"/>
            <a:endParaRPr lang="en-US" sz="2800" dirty="0">
              <a:solidFill>
                <a:srgbClr val="0F172A"/>
              </a:solidFill>
              <a:latin typeface="Cascadia Mono" pitchFamily="34" charset="0"/>
              <a:ea typeface="Cascadia Mono" pitchFamily="34" charset="-122"/>
              <a:cs typeface="Cascadia Mono" pitchFamily="34" charset="-120"/>
            </a:endParaRPr>
          </a:p>
          <a:p>
            <a:pPr defTabSz="3291840"/>
            <a:endParaRPr lang="en-US" sz="2800" dirty="0">
              <a:solidFill>
                <a:srgbClr val="0F172A"/>
              </a:solidFill>
              <a:latin typeface="Cascadia Mono" pitchFamily="34" charset="0"/>
              <a:ea typeface="Cascadia Mono" pitchFamily="34" charset="-122"/>
              <a:cs typeface="Cascadia Mono" pitchFamily="34" charset="-120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"tools": [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how_to_call_function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": </a:t>
            </a: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     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my_tools.read_excel_rows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(resource, 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sheet_name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)",</a:t>
            </a: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function_name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":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read_excel_rows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",</a:t>
            </a: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"resource": "./documents/Some_excel_sheet.xlsm",</a:t>
            </a: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      "</a:t>
            </a:r>
            <a:r>
              <a:rPr lang="en-US" sz="2800" dirty="0" err="1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allowed_sheets</a:t>
            </a:r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cs typeface="Cascadia Mono" pitchFamily="34" charset="-120"/>
              </a:rPr>
              <a:t>": ["AP Routing"]</a:t>
            </a:r>
          </a:p>
          <a:p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]</a:t>
            </a:r>
            <a:endParaRPr lang="en-US" sz="2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28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2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557955" y="13990320"/>
            <a:ext cx="10533888" cy="1152144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648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Python-owned enforcement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557955" y="15307056"/>
            <a:ext cx="11784787" cy="5036515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the BRD policy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Bind only approved capabilities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Reject unlisted files, sheets, APIs, or paths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credentials and raw clients hidden</a:t>
            </a:r>
            <a:endParaRPr lang="en-US" sz="4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626560" y="13990320"/>
            <a:ext cx="11686032" cy="1152144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64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capability pattern</a:t>
            </a:r>
            <a:endParaRPr lang="en-US" sz="648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626560" y="15307056"/>
            <a:ext cx="12344400" cy="5036515"/>
          </a:xfrm>
          <a:prstGeom prst="rect">
            <a:avLst/>
          </a:prstGeom>
          <a:noFill/>
          <a:ln/>
        </p:spPr>
        <p:txBody>
          <a:bodyPr wrap="square" lIns="2743" tIns="2743" rIns="2743" bIns="2743" rtlCol="0" anchor="t">
            <a:normAutofit/>
          </a:bodyPr>
          <a:lstStyle/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→ read_excel_rows()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→ ask_gpt()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→ query_approved_table()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→ call_approved_service()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  <a:p>
            <a:pPr defTabSz="3291840"/>
            <a:r>
              <a:rPr lang="en-US" sz="4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→ send_approved_message()</a:t>
            </a:r>
            <a:endParaRPr lang="en-US" sz="4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10512" y="22450349"/>
            <a:ext cx="40325040" cy="1250899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pPr defTabSz="3291840"/>
            <a:endParaRPr lang="en-US" sz="6480">
              <a:solidFill>
                <a:prstClr val="black"/>
              </a:solidFill>
              <a:latin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70125" y="22631400"/>
            <a:ext cx="39172896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defTabSz="3291840"/>
            <a:r>
              <a:rPr lang="en-US" sz="475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rule: ordinary computation can stay in generated code; anything crossing a trust boundary must go through a BRD-authorized Python capability.</a:t>
            </a:r>
            <a:endParaRPr lang="en-US" sz="4752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EB52BBD8-5662-934C-E56F-1598C441506B}"/>
              </a:ext>
            </a:extLst>
          </p:cNvPr>
          <p:cNvSpPr/>
          <p:nvPr/>
        </p:nvSpPr>
        <p:spPr>
          <a:xfrm>
            <a:off x="0" y="19441"/>
            <a:ext cx="43886520" cy="1342084"/>
          </a:xfrm>
          <a:prstGeom prst="rect">
            <a:avLst/>
          </a:prstGeom>
          <a:solidFill>
            <a:srgbClr val="F0FEFD"/>
          </a:solidFill>
          <a:ln w="9525">
            <a:noFill/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marL="762120" indent="-762120" algn="ctr" defTabSz="914400">
              <a:spcBef>
                <a:spcPts val="2015"/>
              </a:spcBef>
              <a:tabLst>
                <a:tab pos="0" algn="l"/>
              </a:tabLst>
              <a:defRPr/>
            </a:pPr>
            <a:r>
              <a:rPr lang="en-US" sz="8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implementation direction</a:t>
            </a:r>
            <a:r>
              <a:rPr lang="en-US" sz="8000" b="1" dirty="0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– 1</a:t>
            </a:r>
            <a:endParaRPr lang="en-US" sz="80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1415491"/>
          </a:xfrm>
          <a:prstGeom prst="rect">
            <a:avLst/>
          </a:prstGeom>
          <a:solidFill>
            <a:srgbClr val="EDFAF7"/>
          </a:solidFill>
          <a:ln w="7620">
            <a:solidFill>
              <a:srgbClr val="A7B7BC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3" name="Text 1"/>
          <p:cNvSpPr/>
          <p:nvPr/>
        </p:nvSpPr>
        <p:spPr>
          <a:xfrm>
            <a:off x="1316736" y="49377"/>
            <a:ext cx="41257728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0" b="1" dirty="0">
                <a:solidFill>
                  <a:srgbClr val="2563EB"/>
                </a:solidFill>
                <a:latin typeface="Aptos" pitchFamily="34" charset="0"/>
              </a:rPr>
              <a:t>Future implementation direction – 2</a:t>
            </a:r>
          </a:p>
        </p:txBody>
      </p:sp>
      <p:sp>
        <p:nvSpPr>
          <p:cNvPr id="4" name="Text 2"/>
          <p:cNvSpPr/>
          <p:nvPr/>
        </p:nvSpPr>
        <p:spPr>
          <a:xfrm>
            <a:off x="1909267" y="2337206"/>
            <a:ext cx="40489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48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Sandboxed execution of LLM-generated functions</a:t>
            </a:r>
            <a:endParaRPr lang="en-US" sz="9648" dirty="0"/>
          </a:p>
        </p:txBody>
      </p:sp>
      <p:sp>
        <p:nvSpPr>
          <p:cNvPr id="5" name="Text 3"/>
          <p:cNvSpPr/>
          <p:nvPr/>
        </p:nvSpPr>
        <p:spPr>
          <a:xfrm>
            <a:off x="1942186" y="4575657"/>
            <a:ext cx="3950208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 permissions define what code may request; isolation limits what untrusted code can actually do.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942186" y="6024067"/>
            <a:ext cx="39995856" cy="1119226"/>
          </a:xfrm>
          <a:prstGeom prst="rect">
            <a:avLst/>
          </a:prstGeom>
          <a:solidFill>
            <a:srgbClr val="F0F4F8"/>
          </a:solidFill>
          <a:ln w="10160">
            <a:solidFill>
              <a:srgbClr val="DEE5EB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7" name="Text 5"/>
          <p:cNvSpPr/>
          <p:nvPr/>
        </p:nvSpPr>
        <p:spPr>
          <a:xfrm>
            <a:off x="2468880" y="6155741"/>
            <a:ext cx="38843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52" dirty="0">
                <a:solidFill>
                  <a:srgbClr val="2632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GAP  Generated code runs via exec() in the BRD worker; static checks are not a security boundary.</a:t>
            </a:r>
            <a:endParaRPr lang="en-US" sz="3852" dirty="0"/>
          </a:p>
        </p:txBody>
      </p:sp>
      <p:sp>
        <p:nvSpPr>
          <p:cNvPr id="8" name="Text 6"/>
          <p:cNvSpPr/>
          <p:nvPr/>
        </p:nvSpPr>
        <p:spPr>
          <a:xfrm>
            <a:off x="1876349" y="7505395"/>
            <a:ext cx="3950208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40" b="1" dirty="0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execution flow</a:t>
            </a:r>
            <a:endParaRPr lang="en-US" sz="5040" dirty="0"/>
          </a:p>
        </p:txBody>
      </p:sp>
      <p:sp>
        <p:nvSpPr>
          <p:cNvPr id="9" name="Shape 7"/>
          <p:cNvSpPr/>
          <p:nvPr/>
        </p:nvSpPr>
        <p:spPr>
          <a:xfrm>
            <a:off x="1909267" y="8822131"/>
            <a:ext cx="8460029" cy="5036515"/>
          </a:xfrm>
          <a:prstGeom prst="rect">
            <a:avLst/>
          </a:prstGeom>
          <a:solidFill>
            <a:srgbClr val="DBEAFE"/>
          </a:solidFill>
          <a:ln w="13335">
            <a:solidFill>
              <a:srgbClr val="3977FF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10" name="Text 8"/>
          <p:cNvSpPr/>
          <p:nvPr/>
        </p:nvSpPr>
        <p:spPr>
          <a:xfrm>
            <a:off x="2304288" y="92829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472" dirty="0"/>
          </a:p>
        </p:txBody>
      </p:sp>
      <p:sp>
        <p:nvSpPr>
          <p:cNvPr id="11" name="Text 9"/>
          <p:cNvSpPr/>
          <p:nvPr/>
        </p:nvSpPr>
        <p:spPr>
          <a:xfrm>
            <a:off x="2337207" y="105009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supervisor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337207" y="117189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and starts a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execution worker</a:t>
            </a:r>
            <a:endParaRPr lang="en-US" sz="4572" dirty="0"/>
          </a:p>
        </p:txBody>
      </p:sp>
      <p:sp>
        <p:nvSpPr>
          <p:cNvPr id="13" name="Shape 11"/>
          <p:cNvSpPr/>
          <p:nvPr/>
        </p:nvSpPr>
        <p:spPr>
          <a:xfrm>
            <a:off x="10451592" y="11340389"/>
            <a:ext cx="1761134" cy="0"/>
          </a:xfrm>
          <a:prstGeom prst="line">
            <a:avLst/>
          </a:prstGeom>
          <a:noFill/>
          <a:ln w="17780">
            <a:solidFill>
              <a:srgbClr val="98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6480"/>
          </a:p>
        </p:txBody>
      </p:sp>
      <p:sp>
        <p:nvSpPr>
          <p:cNvPr id="14" name="Shape 12"/>
          <p:cNvSpPr/>
          <p:nvPr/>
        </p:nvSpPr>
        <p:spPr>
          <a:xfrm>
            <a:off x="12410237" y="8822131"/>
            <a:ext cx="8460029" cy="5036515"/>
          </a:xfrm>
          <a:prstGeom prst="rect">
            <a:avLst/>
          </a:prstGeom>
          <a:solidFill>
            <a:srgbClr val="D3F7E5"/>
          </a:solidFill>
          <a:ln w="13335">
            <a:solidFill>
              <a:srgbClr val="17AD79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15" name="Text 13"/>
          <p:cNvSpPr/>
          <p:nvPr/>
        </p:nvSpPr>
        <p:spPr>
          <a:xfrm>
            <a:off x="12805258" y="92829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472" dirty="0"/>
          </a:p>
        </p:txBody>
      </p:sp>
      <p:sp>
        <p:nvSpPr>
          <p:cNvPr id="16" name="Text 14"/>
          <p:cNvSpPr/>
          <p:nvPr/>
        </p:nvSpPr>
        <p:spPr>
          <a:xfrm>
            <a:off x="12838176" y="105009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sandbox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2838176" y="117189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the generated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as untrusted code</a:t>
            </a:r>
            <a:endParaRPr lang="en-US" sz="4572" dirty="0"/>
          </a:p>
        </p:txBody>
      </p:sp>
      <p:sp>
        <p:nvSpPr>
          <p:cNvPr id="18" name="Shape 16"/>
          <p:cNvSpPr/>
          <p:nvPr/>
        </p:nvSpPr>
        <p:spPr>
          <a:xfrm>
            <a:off x="20952562" y="11340389"/>
            <a:ext cx="1761134" cy="0"/>
          </a:xfrm>
          <a:prstGeom prst="line">
            <a:avLst/>
          </a:prstGeom>
          <a:noFill/>
          <a:ln w="17780">
            <a:solidFill>
              <a:srgbClr val="98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6480"/>
          </a:p>
        </p:txBody>
      </p:sp>
      <p:sp>
        <p:nvSpPr>
          <p:cNvPr id="19" name="Shape 17"/>
          <p:cNvSpPr/>
          <p:nvPr/>
        </p:nvSpPr>
        <p:spPr>
          <a:xfrm>
            <a:off x="22911206" y="8822131"/>
            <a:ext cx="8460029" cy="5036515"/>
          </a:xfrm>
          <a:prstGeom prst="rect">
            <a:avLst/>
          </a:prstGeom>
          <a:solidFill>
            <a:srgbClr val="FFF2C5"/>
          </a:solidFill>
          <a:ln w="13335">
            <a:solidFill>
              <a:srgbClr val="F59A15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20" name="Text 18"/>
          <p:cNvSpPr/>
          <p:nvPr/>
        </p:nvSpPr>
        <p:spPr>
          <a:xfrm>
            <a:off x="23306227" y="92829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472" dirty="0"/>
          </a:p>
        </p:txBody>
      </p:sp>
      <p:sp>
        <p:nvSpPr>
          <p:cNvPr id="21" name="Text 19"/>
          <p:cNvSpPr/>
          <p:nvPr/>
        </p:nvSpPr>
        <p:spPr>
          <a:xfrm>
            <a:off x="23339146" y="105009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tool broker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23339146" y="117189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Mediates only BRD-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external actions</a:t>
            </a:r>
            <a:endParaRPr lang="en-US" sz="4572" dirty="0"/>
          </a:p>
        </p:txBody>
      </p:sp>
      <p:sp>
        <p:nvSpPr>
          <p:cNvPr id="23" name="Shape 21"/>
          <p:cNvSpPr/>
          <p:nvPr/>
        </p:nvSpPr>
        <p:spPr>
          <a:xfrm>
            <a:off x="31453531" y="11340389"/>
            <a:ext cx="1761134" cy="0"/>
          </a:xfrm>
          <a:prstGeom prst="line">
            <a:avLst/>
          </a:prstGeom>
          <a:noFill/>
          <a:ln w="17780">
            <a:solidFill>
              <a:srgbClr val="98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6480"/>
          </a:p>
        </p:txBody>
      </p:sp>
      <p:sp>
        <p:nvSpPr>
          <p:cNvPr id="24" name="Shape 22"/>
          <p:cNvSpPr/>
          <p:nvPr/>
        </p:nvSpPr>
        <p:spPr>
          <a:xfrm>
            <a:off x="33412176" y="8822131"/>
            <a:ext cx="8460029" cy="5036515"/>
          </a:xfrm>
          <a:prstGeom prst="rect">
            <a:avLst/>
          </a:prstGeom>
          <a:solidFill>
            <a:srgbClr val="FFE3E2"/>
          </a:solidFill>
          <a:ln w="13335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25" name="Text 23"/>
          <p:cNvSpPr/>
          <p:nvPr/>
        </p:nvSpPr>
        <p:spPr>
          <a:xfrm>
            <a:off x="33807197" y="92829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472" dirty="0"/>
          </a:p>
        </p:txBody>
      </p:sp>
      <p:sp>
        <p:nvSpPr>
          <p:cNvPr id="26" name="Text 24"/>
          <p:cNvSpPr/>
          <p:nvPr/>
        </p:nvSpPr>
        <p:spPr>
          <a:xfrm>
            <a:off x="33840115" y="105009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validation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33840115" y="117189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outputs; logs or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terminates failures</a:t>
            </a:r>
            <a:endParaRPr lang="en-US" sz="4572" dirty="0"/>
          </a:p>
        </p:txBody>
      </p:sp>
      <p:sp>
        <p:nvSpPr>
          <p:cNvPr id="28" name="Text 26"/>
          <p:cNvSpPr/>
          <p:nvPr/>
        </p:nvSpPr>
        <p:spPr>
          <a:xfrm>
            <a:off x="1909267" y="15372893"/>
            <a:ext cx="125089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940" b="1" dirty="0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 isolation</a:t>
            </a:r>
            <a:endParaRPr lang="en-US" sz="5940" dirty="0"/>
          </a:p>
        </p:txBody>
      </p:sp>
      <p:sp>
        <p:nvSpPr>
          <p:cNvPr id="29" name="Text 27"/>
          <p:cNvSpPr/>
          <p:nvPr/>
        </p:nvSpPr>
        <p:spPr>
          <a:xfrm>
            <a:off x="1909267" y="16854221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Separate restricted process / container</a:t>
            </a:r>
            <a:endParaRPr lang="en-US" sz="4446" dirty="0"/>
          </a:p>
        </p:txBody>
      </p:sp>
      <p:sp>
        <p:nvSpPr>
          <p:cNvPr id="30" name="Text 28"/>
          <p:cNvSpPr/>
          <p:nvPr/>
        </p:nvSpPr>
        <p:spPr>
          <a:xfrm>
            <a:off x="1909267" y="18039283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No direct access to host files or secrets</a:t>
            </a:r>
            <a:endParaRPr lang="en-US" sz="4446" dirty="0"/>
          </a:p>
        </p:txBody>
      </p:sp>
      <p:sp>
        <p:nvSpPr>
          <p:cNvPr id="31" name="Text 29"/>
          <p:cNvSpPr/>
          <p:nvPr/>
        </p:nvSpPr>
        <p:spPr>
          <a:xfrm>
            <a:off x="1909267" y="19224346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Network and OS permissions denied by default</a:t>
            </a:r>
            <a:endParaRPr lang="en-US" sz="4446" dirty="0"/>
          </a:p>
        </p:txBody>
      </p:sp>
      <p:sp>
        <p:nvSpPr>
          <p:cNvPr id="32" name="Text 30"/>
          <p:cNvSpPr/>
          <p:nvPr/>
        </p:nvSpPr>
        <p:spPr>
          <a:xfrm>
            <a:off x="15504566" y="15372893"/>
            <a:ext cx="1316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940" b="1" dirty="0">
                <a:solidFill>
                  <a:srgbClr val="0A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Python-owned tool gateway</a:t>
            </a:r>
            <a:endParaRPr lang="en-US" sz="5940" dirty="0"/>
          </a:p>
        </p:txBody>
      </p:sp>
      <p:sp>
        <p:nvSpPr>
          <p:cNvPr id="33" name="Text 31"/>
          <p:cNvSpPr/>
          <p:nvPr/>
        </p:nvSpPr>
        <p:spPr>
          <a:xfrm>
            <a:off x="15504566" y="16854221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Only BRD-authorized tools and resources</a:t>
            </a:r>
            <a:endParaRPr lang="en-US" sz="4446" dirty="0"/>
          </a:p>
        </p:txBody>
      </p:sp>
      <p:sp>
        <p:nvSpPr>
          <p:cNvPr id="34" name="Text 32"/>
          <p:cNvSpPr/>
          <p:nvPr/>
        </p:nvSpPr>
        <p:spPr>
          <a:xfrm>
            <a:off x="15504566" y="18039283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Calls mediated by a trusted broker</a:t>
            </a:r>
            <a:endParaRPr lang="en-US" sz="4446" dirty="0"/>
          </a:p>
        </p:txBody>
      </p:sp>
      <p:sp>
        <p:nvSpPr>
          <p:cNvPr id="35" name="Text 33"/>
          <p:cNvSpPr/>
          <p:nvPr/>
        </p:nvSpPr>
        <p:spPr>
          <a:xfrm>
            <a:off x="15504566" y="19224346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Credentials remain outside the sandbox</a:t>
            </a:r>
            <a:endParaRPr lang="en-US" sz="4446" dirty="0"/>
          </a:p>
        </p:txBody>
      </p:sp>
      <p:sp>
        <p:nvSpPr>
          <p:cNvPr id="36" name="Text 34"/>
          <p:cNvSpPr/>
          <p:nvPr/>
        </p:nvSpPr>
        <p:spPr>
          <a:xfrm>
            <a:off x="28770682" y="15372893"/>
            <a:ext cx="1316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940" b="1" dirty="0">
                <a:solidFill>
                  <a:srgbClr val="D884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containment</a:t>
            </a:r>
            <a:endParaRPr lang="en-US" sz="5940" dirty="0"/>
          </a:p>
        </p:txBody>
      </p:sp>
      <p:sp>
        <p:nvSpPr>
          <p:cNvPr id="37" name="Text 35"/>
          <p:cNvSpPr/>
          <p:nvPr/>
        </p:nvSpPr>
        <p:spPr>
          <a:xfrm>
            <a:off x="28770682" y="16854221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Enforce time, CPU and memory ceilings</a:t>
            </a:r>
            <a:endParaRPr lang="en-US" sz="4446" dirty="0"/>
          </a:p>
        </p:txBody>
      </p:sp>
      <p:sp>
        <p:nvSpPr>
          <p:cNvPr id="38" name="Text 36"/>
          <p:cNvSpPr/>
          <p:nvPr/>
        </p:nvSpPr>
        <p:spPr>
          <a:xfrm>
            <a:off x="28770682" y="18039283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Stop hanging or misbehaving executions</a:t>
            </a:r>
            <a:endParaRPr lang="en-US" sz="4446" dirty="0"/>
          </a:p>
        </p:txBody>
      </p:sp>
      <p:sp>
        <p:nvSpPr>
          <p:cNvPr id="39" name="Text 37"/>
          <p:cNvSpPr/>
          <p:nvPr/>
        </p:nvSpPr>
        <p:spPr>
          <a:xfrm>
            <a:off x="28770682" y="19224346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Audit requests, results and violations</a:t>
            </a:r>
            <a:endParaRPr lang="en-US" sz="4446" dirty="0"/>
          </a:p>
        </p:txBody>
      </p:sp>
      <p:sp>
        <p:nvSpPr>
          <p:cNvPr id="40" name="Shape 38"/>
          <p:cNvSpPr/>
          <p:nvPr/>
        </p:nvSpPr>
        <p:spPr>
          <a:xfrm>
            <a:off x="1909267" y="22318675"/>
            <a:ext cx="40028774" cy="1448410"/>
          </a:xfrm>
          <a:prstGeom prst="rect">
            <a:avLst/>
          </a:prstGeom>
          <a:solidFill>
            <a:srgbClr val="10192F"/>
          </a:solidFill>
          <a:ln w="12700">
            <a:solidFill>
              <a:srgbClr val="1019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41" name="Text 39"/>
          <p:cNvSpPr/>
          <p:nvPr/>
        </p:nvSpPr>
        <p:spPr>
          <a:xfrm>
            <a:off x="2435962" y="22549104"/>
            <a:ext cx="39107059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15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rule: BRD-scoped tools control permissions; sandbox isolation contains unexpected code behavior. Both are needed.</a:t>
            </a:r>
            <a:endParaRPr lang="en-US" sz="415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1415491"/>
          </a:xfrm>
          <a:prstGeom prst="rect">
            <a:avLst/>
          </a:prstGeom>
          <a:solidFill>
            <a:srgbClr val="EDFAF7"/>
          </a:solidFill>
          <a:ln w="7620">
            <a:solidFill>
              <a:srgbClr val="A7B7BC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3" name="Text 1"/>
          <p:cNvSpPr/>
          <p:nvPr/>
        </p:nvSpPr>
        <p:spPr>
          <a:xfrm>
            <a:off x="1316736" y="49377"/>
            <a:ext cx="41257728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0" b="1" dirty="0">
                <a:solidFill>
                  <a:srgbClr val="2563EB"/>
                </a:solidFill>
                <a:latin typeface="Aptos" pitchFamily="34" charset="0"/>
              </a:rPr>
              <a:t>Future implementation direction – 3</a:t>
            </a:r>
          </a:p>
        </p:txBody>
      </p:sp>
      <p:sp>
        <p:nvSpPr>
          <p:cNvPr id="4" name="Text 2"/>
          <p:cNvSpPr/>
          <p:nvPr/>
        </p:nvSpPr>
        <p:spPr>
          <a:xfrm>
            <a:off x="1909267" y="2337206"/>
            <a:ext cx="40489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48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Defending against deliberately deceptive generated functions</a:t>
            </a:r>
            <a:endParaRPr lang="en-US" sz="9648" dirty="0"/>
          </a:p>
        </p:txBody>
      </p:sp>
      <p:sp>
        <p:nvSpPr>
          <p:cNvPr id="5" name="Text 3"/>
          <p:cNvSpPr/>
          <p:nvPr/>
        </p:nvSpPr>
        <p:spPr>
          <a:xfrm>
            <a:off x="1942186" y="4575656"/>
            <a:ext cx="23340974" cy="184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Current program prevents ordinary LLM coding mistakes.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A future </a:t>
            </a:r>
            <a:r>
              <a:rPr lang="en-US" sz="4500" b="1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adversarial</a:t>
            </a:r>
            <a:r>
              <a:rPr lang="en-US" sz="4500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 defense must also prevent intentional cheating.</a:t>
            </a:r>
            <a:endParaRPr lang="en-US" sz="4500" dirty="0">
              <a:highlight>
                <a:srgbClr val="FFFF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1889760" y="8574634"/>
            <a:ext cx="3950208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Cheating Path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909267" y="10269931"/>
            <a:ext cx="8460029" cy="5036515"/>
          </a:xfrm>
          <a:prstGeom prst="rect">
            <a:avLst/>
          </a:prstGeom>
          <a:solidFill>
            <a:srgbClr val="DBEAFE"/>
          </a:solidFill>
          <a:ln w="13335">
            <a:solidFill>
              <a:srgbClr val="3977FF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10" name="Text 8"/>
          <p:cNvSpPr/>
          <p:nvPr/>
        </p:nvSpPr>
        <p:spPr>
          <a:xfrm>
            <a:off x="2304288" y="107307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472" dirty="0"/>
          </a:p>
        </p:txBody>
      </p:sp>
      <p:sp>
        <p:nvSpPr>
          <p:cNvPr id="11" name="Text 9"/>
          <p:cNvSpPr/>
          <p:nvPr/>
        </p:nvSpPr>
        <p:spPr>
          <a:xfrm>
            <a:off x="2337207" y="119487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Deceptive code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337207" y="131667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function aims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game the tests</a:t>
            </a:r>
            <a:endParaRPr lang="en-US" sz="4572" dirty="0"/>
          </a:p>
        </p:txBody>
      </p:sp>
      <p:sp>
        <p:nvSpPr>
          <p:cNvPr id="13" name="Shape 11"/>
          <p:cNvSpPr/>
          <p:nvPr/>
        </p:nvSpPr>
        <p:spPr>
          <a:xfrm>
            <a:off x="10451592" y="12788189"/>
            <a:ext cx="1761134" cy="0"/>
          </a:xfrm>
          <a:prstGeom prst="line">
            <a:avLst/>
          </a:prstGeom>
          <a:noFill/>
          <a:ln w="17780">
            <a:solidFill>
              <a:srgbClr val="98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6480"/>
          </a:p>
        </p:txBody>
      </p:sp>
      <p:sp>
        <p:nvSpPr>
          <p:cNvPr id="14" name="Shape 12"/>
          <p:cNvSpPr/>
          <p:nvPr/>
        </p:nvSpPr>
        <p:spPr>
          <a:xfrm>
            <a:off x="12410237" y="10269931"/>
            <a:ext cx="8460029" cy="5036515"/>
          </a:xfrm>
          <a:prstGeom prst="rect">
            <a:avLst/>
          </a:prstGeom>
          <a:solidFill>
            <a:srgbClr val="D3F7E5"/>
          </a:solidFill>
          <a:ln w="13335">
            <a:solidFill>
              <a:srgbClr val="17AD79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15" name="Text 13"/>
          <p:cNvSpPr/>
          <p:nvPr/>
        </p:nvSpPr>
        <p:spPr>
          <a:xfrm>
            <a:off x="12805258" y="107307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472" dirty="0"/>
          </a:p>
        </p:txBody>
      </p:sp>
      <p:sp>
        <p:nvSpPr>
          <p:cNvPr id="16" name="Text 14"/>
          <p:cNvSpPr/>
          <p:nvPr/>
        </p:nvSpPr>
        <p:spPr>
          <a:xfrm>
            <a:off x="12838176" y="119487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Answer-key access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2838176" y="131667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worker privileges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read hidden labels</a:t>
            </a:r>
            <a:endParaRPr lang="en-US" sz="4572" dirty="0"/>
          </a:p>
        </p:txBody>
      </p:sp>
      <p:sp>
        <p:nvSpPr>
          <p:cNvPr id="18" name="Shape 16"/>
          <p:cNvSpPr/>
          <p:nvPr/>
        </p:nvSpPr>
        <p:spPr>
          <a:xfrm>
            <a:off x="20952562" y="12788189"/>
            <a:ext cx="1761134" cy="0"/>
          </a:xfrm>
          <a:prstGeom prst="line">
            <a:avLst/>
          </a:prstGeom>
          <a:noFill/>
          <a:ln w="17780">
            <a:solidFill>
              <a:srgbClr val="98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6480"/>
          </a:p>
        </p:txBody>
      </p:sp>
      <p:sp>
        <p:nvSpPr>
          <p:cNvPr id="19" name="Shape 17"/>
          <p:cNvSpPr/>
          <p:nvPr/>
        </p:nvSpPr>
        <p:spPr>
          <a:xfrm>
            <a:off x="22911206" y="10269931"/>
            <a:ext cx="8460029" cy="5036515"/>
          </a:xfrm>
          <a:prstGeom prst="rect">
            <a:avLst/>
          </a:prstGeom>
          <a:solidFill>
            <a:srgbClr val="FFF2C5"/>
          </a:solidFill>
          <a:ln w="13335">
            <a:solidFill>
              <a:srgbClr val="F59A15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20" name="Text 18"/>
          <p:cNvSpPr/>
          <p:nvPr/>
        </p:nvSpPr>
        <p:spPr>
          <a:xfrm>
            <a:off x="23306227" y="107307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472" dirty="0"/>
          </a:p>
        </p:txBody>
      </p:sp>
      <p:sp>
        <p:nvSpPr>
          <p:cNvPr id="21" name="Text 19"/>
          <p:cNvSpPr/>
          <p:nvPr/>
        </p:nvSpPr>
        <p:spPr>
          <a:xfrm>
            <a:off x="23339146" y="119487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Memorized outputs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23339146" y="131667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stored answers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business logic</a:t>
            </a:r>
            <a:endParaRPr lang="en-US" sz="4572" dirty="0"/>
          </a:p>
        </p:txBody>
      </p:sp>
      <p:sp>
        <p:nvSpPr>
          <p:cNvPr id="23" name="Shape 21"/>
          <p:cNvSpPr/>
          <p:nvPr/>
        </p:nvSpPr>
        <p:spPr>
          <a:xfrm>
            <a:off x="31453531" y="12788189"/>
            <a:ext cx="1761134" cy="0"/>
          </a:xfrm>
          <a:prstGeom prst="line">
            <a:avLst/>
          </a:prstGeom>
          <a:noFill/>
          <a:ln w="17780">
            <a:solidFill>
              <a:srgbClr val="98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6480"/>
          </a:p>
        </p:txBody>
      </p:sp>
      <p:sp>
        <p:nvSpPr>
          <p:cNvPr id="24" name="Shape 22"/>
          <p:cNvSpPr/>
          <p:nvPr/>
        </p:nvSpPr>
        <p:spPr>
          <a:xfrm>
            <a:off x="33412176" y="10269931"/>
            <a:ext cx="8460029" cy="5036515"/>
          </a:xfrm>
          <a:prstGeom prst="rect">
            <a:avLst/>
          </a:prstGeom>
          <a:solidFill>
            <a:srgbClr val="FFE3E2"/>
          </a:solidFill>
          <a:ln w="13335">
            <a:solidFill>
              <a:srgbClr val="F05252"/>
            </a:solidFill>
            <a:prstDash val="solid"/>
          </a:ln>
        </p:spPr>
        <p:txBody>
          <a:bodyPr/>
          <a:lstStyle/>
          <a:p>
            <a:endParaRPr lang="en-US" sz="6480"/>
          </a:p>
        </p:txBody>
      </p:sp>
      <p:sp>
        <p:nvSpPr>
          <p:cNvPr id="25" name="Text 23"/>
          <p:cNvSpPr/>
          <p:nvPr/>
        </p:nvSpPr>
        <p:spPr>
          <a:xfrm>
            <a:off x="33807197" y="10730789"/>
            <a:ext cx="7669987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472" dirty="0"/>
          </a:p>
        </p:txBody>
      </p:sp>
      <p:sp>
        <p:nvSpPr>
          <p:cNvPr id="26" name="Text 24"/>
          <p:cNvSpPr/>
          <p:nvPr/>
        </p:nvSpPr>
        <p:spPr>
          <a:xfrm>
            <a:off x="33840115" y="11948769"/>
            <a:ext cx="760415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approval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33840115" y="13166751"/>
            <a:ext cx="7604150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sees a match;</a:t>
            </a:r>
            <a:endParaRPr lang="en-US" sz="4572" dirty="0"/>
          </a:p>
          <a:p>
            <a:pPr algn="ctr"/>
            <a:r>
              <a:rPr lang="en-US" sz="4572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candidate is unsound</a:t>
            </a:r>
            <a:endParaRPr lang="en-US" sz="4572" dirty="0"/>
          </a:p>
        </p:txBody>
      </p:sp>
      <p:sp>
        <p:nvSpPr>
          <p:cNvPr id="28" name="Text 26"/>
          <p:cNvSpPr/>
          <p:nvPr/>
        </p:nvSpPr>
        <p:spPr>
          <a:xfrm>
            <a:off x="1909267" y="17643653"/>
            <a:ext cx="125089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940" b="1" dirty="0">
                <a:solidFill>
                  <a:srgbClr val="276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model</a:t>
            </a:r>
            <a:endParaRPr lang="en-US" sz="5940" dirty="0"/>
          </a:p>
        </p:txBody>
      </p:sp>
      <p:sp>
        <p:nvSpPr>
          <p:cNvPr id="29" name="Text 27"/>
          <p:cNvSpPr/>
          <p:nvPr/>
        </p:nvSpPr>
        <p:spPr>
          <a:xfrm>
            <a:off x="1909267" y="19124981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Hidden job files or answers are reachable</a:t>
            </a:r>
            <a:endParaRPr lang="en-US" sz="4446" dirty="0"/>
          </a:p>
        </p:txBody>
      </p:sp>
      <p:sp>
        <p:nvSpPr>
          <p:cNvPr id="30" name="Text 28"/>
          <p:cNvSpPr/>
          <p:nvPr/>
        </p:nvSpPr>
        <p:spPr>
          <a:xfrm>
            <a:off x="1909267" y="20310043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Static allowlists can have escape paths</a:t>
            </a:r>
            <a:endParaRPr lang="en-US" sz="4446" dirty="0"/>
          </a:p>
        </p:txBody>
      </p:sp>
      <p:sp>
        <p:nvSpPr>
          <p:cNvPr id="31" name="Text 29"/>
          <p:cNvSpPr/>
          <p:nvPr/>
        </p:nvSpPr>
        <p:spPr>
          <a:xfrm>
            <a:off x="1909267" y="21495106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Passing N jobs does not prove generality</a:t>
            </a:r>
            <a:endParaRPr lang="en-US" sz="4446" dirty="0"/>
          </a:p>
        </p:txBody>
      </p:sp>
      <p:sp>
        <p:nvSpPr>
          <p:cNvPr id="32" name="Text 30"/>
          <p:cNvSpPr/>
          <p:nvPr/>
        </p:nvSpPr>
        <p:spPr>
          <a:xfrm>
            <a:off x="15504566" y="17643653"/>
            <a:ext cx="1316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940" b="1" dirty="0">
                <a:solidFill>
                  <a:srgbClr val="0A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countermeasures</a:t>
            </a:r>
            <a:endParaRPr lang="en-US" sz="5940" dirty="0"/>
          </a:p>
        </p:txBody>
      </p:sp>
      <p:sp>
        <p:nvSpPr>
          <p:cNvPr id="33" name="Text 31"/>
          <p:cNvSpPr/>
          <p:nvPr/>
        </p:nvSpPr>
        <p:spPr>
          <a:xfrm>
            <a:off x="15504566" y="19124981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Sandbox cannot read answers or secrets</a:t>
            </a:r>
            <a:endParaRPr lang="en-US" sz="4446" dirty="0"/>
          </a:p>
        </p:txBody>
      </p:sp>
      <p:sp>
        <p:nvSpPr>
          <p:cNvPr id="34" name="Text 32"/>
          <p:cNvSpPr/>
          <p:nvPr/>
        </p:nvSpPr>
        <p:spPr>
          <a:xfrm>
            <a:off x="15504566" y="20310043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Parent alone compares expected outputs</a:t>
            </a:r>
            <a:endParaRPr lang="en-US" sz="4446" dirty="0"/>
          </a:p>
        </p:txBody>
      </p:sp>
      <p:sp>
        <p:nvSpPr>
          <p:cNvPr id="35" name="Text 33"/>
          <p:cNvSpPr/>
          <p:nvPr/>
        </p:nvSpPr>
        <p:spPr>
          <a:xfrm>
            <a:off x="15504566" y="21495106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BRD-scoped broker limits external tools</a:t>
            </a:r>
            <a:endParaRPr lang="en-US" sz="4446" dirty="0"/>
          </a:p>
        </p:txBody>
      </p:sp>
      <p:sp>
        <p:nvSpPr>
          <p:cNvPr id="36" name="Text 34"/>
          <p:cNvSpPr/>
          <p:nvPr/>
        </p:nvSpPr>
        <p:spPr>
          <a:xfrm>
            <a:off x="28770682" y="17643653"/>
            <a:ext cx="1316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940" b="1" dirty="0">
                <a:solidFill>
                  <a:srgbClr val="D884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verification</a:t>
            </a:r>
            <a:endParaRPr lang="en-US" sz="5940" dirty="0"/>
          </a:p>
        </p:txBody>
      </p:sp>
      <p:sp>
        <p:nvSpPr>
          <p:cNvPr id="37" name="Text 35"/>
          <p:cNvSpPr/>
          <p:nvPr/>
        </p:nvSpPr>
        <p:spPr>
          <a:xfrm>
            <a:off x="28770682" y="19124981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Test honest and cheating implementations</a:t>
            </a:r>
            <a:endParaRPr lang="en-US" sz="4446" dirty="0"/>
          </a:p>
        </p:txBody>
      </p:sp>
      <p:sp>
        <p:nvSpPr>
          <p:cNvPr id="38" name="Text 36"/>
          <p:cNvSpPr/>
          <p:nvPr/>
        </p:nvSpPr>
        <p:spPr>
          <a:xfrm>
            <a:off x="28770682" y="20310043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Assert holdout data remains inaccessible</a:t>
            </a:r>
            <a:endParaRPr lang="en-US" sz="4446" dirty="0"/>
          </a:p>
        </p:txBody>
      </p:sp>
      <p:sp>
        <p:nvSpPr>
          <p:cNvPr id="39" name="Text 37"/>
          <p:cNvSpPr/>
          <p:nvPr/>
        </p:nvSpPr>
        <p:spPr>
          <a:xfrm>
            <a:off x="28770682" y="21495106"/>
            <a:ext cx="13002768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6" dirty="0">
                <a:solidFill>
                  <a:srgbClr val="101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Enforce timeouts; persist blocked hashes</a:t>
            </a:r>
            <a:endParaRPr lang="en-US" sz="44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3437</Words>
  <Application>Microsoft Office PowerPoint</Application>
  <PresentationFormat>Custom</PresentationFormat>
  <Paragraphs>497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Cascadia Mono</vt:lpstr>
      <vt:lpstr>Consolas</vt:lpstr>
      <vt:lpstr>Courier New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Hong</dc:creator>
  <cp:lastModifiedBy>Simon Hong</cp:lastModifiedBy>
  <cp:revision>1</cp:revision>
  <dcterms:created xsi:type="dcterms:W3CDTF">2026-10-05T18:10:02Z</dcterms:created>
  <dcterms:modified xsi:type="dcterms:W3CDTF">2026-10-09T19:17:10Z</dcterms:modified>
</cp:coreProperties>
</file>